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introduce the project yet. Let the wall sit for a few seconds: every line behind the title is a real headline our system collected on one ordinary morning. Then say it: the news isn't missing, it's buried. The problem is not that we lack information. It is that finding the part worth our attention takes work. About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News is how we see change before it reaches us. It tells a developer what just became possible to build, a student which skills come next, and anyone leading a team what to decide. In a fast field, a few weeks behind means working from an old map. So the question is not whether to follow the news. It is what following it costs. About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first difficulty. The stories are not in one place. A research result appears on one site, a product launch on a company blog, a policy change on a government page, and the reaction on a forum. These are twenty of the forty-one sources our own system follows, and they are all real. Company blogs, press, newsletters, regulators, developer changelogs. Nobody opens all of these every morning. So most of us follow three or four and hope the rest reaches us somehow. About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that scattered landscape cost? Five things. Time, for the searching and screening. Attention, because every source is a switch of context. Misses, because the story that mattered sits under ten that did not. Habit, because a tedious routine is the first thing dropped on a busy day. And effort, because after all that you still have to decide what matters. We will put a number on the first one next. About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routine. Open the sources, scan the headlines, click the likely ones, judge whether each is real, compare the coverage, save what is useful. Then repeat tomorrow. Now our own numbers, measured by the system over its first five days. Its sources carried 22,735 feed entries. 73 stories were worth telling. Reading the articles behind those 73 would take about six and a half hours at a normal reading speed, and that is before the time spent finding them. About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had to pick one field to start with, and we picked AI on purpose. Following AI means following six kinds of story at once: models and research, products, agents and developer tools, deals, policy and safety, and real-world use. They come from research sites, company blogs, the press, regulators and forums, and they change daily. Be clear about the claim: we start with AI not because the problem is limited to AI, but because AI moves fast enough that the problem is impossible to miss. About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 in the story, so slow down and let the red slide land. Access is solved: anyone with a phone can reach every one of those sources for free. Attention is not: nobody has the hours to find the part that matters. That changes what is worth building. The world does not need another source of AI news. It needs a better way to find, filter and deliver what is already out there. About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name. This is AIdea. AI news, fresh perspectives. In one line: the day's AI news, found, filtered and read to you, with every story linked back to its sources. The logo is a signal line that spells A and I: one clear signal pulled out of the noise. About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a listener gets. On the left is real output: two headlines from one of our editions, word for word, each labelled for how well sourced it is and linked to its articles. On the right, play about twenty seconds of a real episode; add that clip before presenting. So far: five daily editions, 73 stories, 98 minutes of audio. Every edition comes three ways: audio to hear, a newsletter to read, and show notes to check. About 80 seconds with the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and the number under each stage is what has actually flowed through it in five days. Left to right: 41 sources followed. 22,735 entries collected. A filter kept 416 that were recent and about AI. Grouping merged duplicates into 315 stories. An editor model ranked them and chose 73. The writer produced 12,306 words, every sentence checked against its sources. And it was spoken as 98 minutes of audio. The point for the judges: this is a twelve-step pipeline, and the language model is used in only the three red stages. The rest is plain code that behaves the same way every time. Python runs it, SQLite stores every decision, Claude Sonnet 5.5 edits and writes, and Chatterbox Turbo speaks on our own graphics card. About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news product is only useful if you can trust it, so quality is built in. Four measured numbers. 243 automated tests guard the pipeline's rules. Across the editions so far, the source check caught 17 lines that contained a name or number the sources did not support, and removed them before they were spoken. Every story carries one of three confidence labels: confirmed, reported or rumour. And all 397 requests to the language model are logged, so any decision can be traced. The script is written only from the source articles, a failing source never stops a run, and a person approves each edition. Next we will measure stories missed, against a hand-marked set. About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red slide, and the payoff. Over the same five days and the same 73 stories: six and a half hours of reading, or 98 minutes of listening. That is about a quarter of the time, and none of the searching, because every story has already been grouped with its duplicates, ranked against the others and linked to its sources. We will keep measuring three things as it grows: time to a useful briefing, stories found and missed, and lines that fail the source check. About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and we are careful about which is which. Now: everything in the first column exists and runs today. A daily AI briefing from 41 sources, a script checked against its sources, and audio plus a newsletter as output. Next: publishing on Spotify and Amazon Music, a host-and-guest conversation format we have already prototyped, more sources, and a hand-marked set to score quality. Later, once the AI use case is proven: briefings personalised to each listener, and the same pipeline pointed at other fast-moving fields. About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back to where you started. The world does not need people to spend more time searching for information. It needs better ways to find the information worth their attention. Then the closing line, slowly: AIdea. Less noise, more signal. Less time finding it, more time understanding what matters. Thank the judges and leave this slide up for questions.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0B0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64"/>
            <a:ext cx="9525000" cy="711200"/>
          </a:xfrm>
          <a:prstGeom prst="rect">
            <a:avLst/>
          </a:prstGeom>
          <a:noFill/>
          <a:ln/>
        </p:spPr>
        <p:txBody>
          <a:bodyPr wrap="square" lIns="0" tIns="0" rIns="0" bIns="0" rtlCol="0" anchor="t"/>
          <a:lstStyle>
            <a:lvl1pPr algn="l" indent="0" marL="0">
              <a:lnSpc>
                <a:spcPct val="115000"/>
              </a:lnSpc>
              <a:buNone/>
              <a:defRPr lang="en-US" sz="5600" dirty="0">
                <a:solidFill>
                  <a:srgbClr val="F1EFE9"/>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5600" dirty="0"/>
          </a:p>
        </p:txBody>
      </p:sp>
      <p:sp>
        <p:nvSpPr>
          <p:cNvPr id="3" name="Text Placeholder 2"/>
          <p:cNvSpPr/>
          <p:nvPr>
            <p:ph idx="101" type="body"/>
          </p:nvPr>
        </p:nvSpPr>
        <p:spPr>
          <a:xfrm>
            <a:off x="812800" y="2346964"/>
            <a:ext cx="10566400" cy="3698236"/>
          </a:xfrm>
          <a:prstGeom prst="rect">
            <a:avLst/>
          </a:prstGeom>
          <a:noFill/>
          <a:ln/>
        </p:spPr>
        <p:txBody>
          <a:bodyPr wrap="square" lIns="0" tIns="0" rIns="0" bIns="0" rtlCol="0" anchor="t"/>
          <a:lstStyle>
            <a:lvl1pPr algn="l" indent="0" marL="0">
              <a:lnSpc>
                <a:spcPct val="140000"/>
              </a:lnSpc>
              <a:buNone/>
              <a:defRPr lang="en-US" sz="1600" dirty="0">
                <a:solidFill>
                  <a:srgbClr val="F1EFE9"/>
                </a:solidFill>
                <a:latin typeface="Bricolage Grotesque" pitchFamily="34" charset="0"/>
                <a:ea typeface="Bricolage Grotesque" pitchFamily="34" charset="-122"/>
                <a:cs typeface="Bricolage Grotesqu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0B0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64"/>
            <a:ext cx="9525000" cy="711200"/>
          </a:xfrm>
          <a:prstGeom prst="rect">
            <a:avLst/>
          </a:prstGeom>
          <a:noFill/>
          <a:ln/>
        </p:spPr>
        <p:txBody>
          <a:bodyPr wrap="square" lIns="0" tIns="0" rIns="0" bIns="0" rtlCol="0" anchor="t"/>
          <a:lstStyle>
            <a:lvl1pPr algn="l" indent="0" marL="0">
              <a:lnSpc>
                <a:spcPct val="115000"/>
              </a:lnSpc>
              <a:buNone/>
              <a:defRPr lang="en-US" sz="5600" dirty="0">
                <a:solidFill>
                  <a:srgbClr val="F1EFE9"/>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5600" dirty="0"/>
          </a:p>
        </p:txBody>
      </p:sp>
      <p:sp>
        <p:nvSpPr>
          <p:cNvPr id="3" name="Text Placeholder 2"/>
          <p:cNvSpPr/>
          <p:nvPr>
            <p:ph idx="101" type="body"/>
          </p:nvPr>
        </p:nvSpPr>
        <p:spPr>
          <a:xfrm>
            <a:off x="812800" y="2346964"/>
            <a:ext cx="10566400" cy="3698236"/>
          </a:xfrm>
          <a:prstGeom prst="rect">
            <a:avLst/>
          </a:prstGeom>
          <a:noFill/>
          <a:ln/>
        </p:spPr>
        <p:txBody>
          <a:bodyPr wrap="square" lIns="0" tIns="0" rIns="0" bIns="0" rtlCol="0" anchor="t"/>
          <a:lstStyle>
            <a:lvl1pPr algn="l" indent="0" marL="0">
              <a:lnSpc>
                <a:spcPct val="140000"/>
              </a:lnSpc>
              <a:buNone/>
              <a:defRPr lang="en-US" sz="1600" dirty="0">
                <a:solidFill>
                  <a:srgbClr val="F1EFE9"/>
                </a:solidFill>
                <a:latin typeface="Bricolage Grotesque" pitchFamily="34" charset="0"/>
                <a:ea typeface="Bricolage Grotesque" pitchFamily="34" charset="-122"/>
                <a:cs typeface="Bricolage Grotesque"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254000" y="190500"/>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A2121"/>
                </a:solidFill>
                <a:latin typeface="Bricolage Grotesque" pitchFamily="34" charset="0"/>
                <a:ea typeface="Bricolage Grotesque" pitchFamily="34" charset="-122"/>
                <a:cs typeface="Bricolage Grotesque" pitchFamily="34" charset="-120"/>
              </a:rPr>
              <a:t>Nadella says AI models need an ‘emergency brake’ · Odyssey-3 is a new generative world model</a:t>
            </a:r>
            <a:endParaRPr lang="en-US" sz="2600" dirty="0"/>
          </a:p>
        </p:txBody>
      </p:sp>
      <p:sp>
        <p:nvSpPr>
          <p:cNvPr id="3" name="Text 1"/>
          <p:cNvSpPr/>
          <p:nvPr/>
        </p:nvSpPr>
        <p:spPr>
          <a:xfrm>
            <a:off x="254000" y="636984"/>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11919"/>
                </a:solidFill>
                <a:latin typeface="Bricolage Grotesque" pitchFamily="34" charset="0"/>
                <a:ea typeface="Bricolage Grotesque" pitchFamily="34" charset="-122"/>
                <a:cs typeface="Bricolage Grotesque" pitchFamily="34" charset="-120"/>
              </a:rPr>
              <a:t>ArXiv caps submissions at two per month as AI paper flood overwhelms the preprint server</a:t>
            </a:r>
            <a:endParaRPr lang="en-US" sz="2600" dirty="0"/>
          </a:p>
        </p:txBody>
      </p:sp>
      <p:sp>
        <p:nvSpPr>
          <p:cNvPr id="4" name="Text 2"/>
          <p:cNvSpPr/>
          <p:nvPr/>
        </p:nvSpPr>
        <p:spPr>
          <a:xfrm>
            <a:off x="254000" y="1083469"/>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A2121"/>
                </a:solidFill>
                <a:latin typeface="Bricolage Grotesque" pitchFamily="34" charset="0"/>
                <a:ea typeface="Bricolage Grotesque" pitchFamily="34" charset="-122"/>
                <a:cs typeface="Bricolage Grotesque" pitchFamily="34" charset="-120"/>
              </a:rPr>
              <a:t>Cheaper AI tokens are driving more demand · Mac users are nuking every trace of Apple AI</a:t>
            </a:r>
            <a:endParaRPr lang="en-US" sz="2600" dirty="0"/>
          </a:p>
        </p:txBody>
      </p:sp>
      <p:sp>
        <p:nvSpPr>
          <p:cNvPr id="5" name="Text 3"/>
          <p:cNvSpPr/>
          <p:nvPr/>
        </p:nvSpPr>
        <p:spPr>
          <a:xfrm>
            <a:off x="254000" y="1529953"/>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11919"/>
                </a:solidFill>
                <a:latin typeface="Bricolage Grotesque" pitchFamily="34" charset="0"/>
                <a:ea typeface="Bricolage Grotesque" pitchFamily="34" charset="-122"/>
                <a:cs typeface="Bricolage Grotesque" pitchFamily="34" charset="-120"/>
              </a:rPr>
              <a:t>AI agents overstate their results, study finds · Netflix has used AI on about 300 titles</a:t>
            </a:r>
            <a:endParaRPr lang="en-US" sz="2600" dirty="0"/>
          </a:p>
        </p:txBody>
      </p:sp>
      <p:sp>
        <p:nvSpPr>
          <p:cNvPr id="6" name="Text 4"/>
          <p:cNvSpPr/>
          <p:nvPr/>
        </p:nvSpPr>
        <p:spPr>
          <a:xfrm>
            <a:off x="254000" y="1976438"/>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A2121"/>
                </a:solidFill>
                <a:latin typeface="Bricolage Grotesque" pitchFamily="34" charset="0"/>
                <a:ea typeface="Bricolage Grotesque" pitchFamily="34" charset="-122"/>
                <a:cs typeface="Bricolage Grotesque" pitchFamily="34" charset="-120"/>
              </a:rPr>
              <a:t>Nvidia in talks to acquire Reflection AI · I made terrible games with Google’s AI Playground</a:t>
            </a:r>
            <a:endParaRPr lang="en-US" sz="2600" dirty="0"/>
          </a:p>
        </p:txBody>
      </p:sp>
      <p:sp>
        <p:nvSpPr>
          <p:cNvPr id="7" name="Text 5"/>
          <p:cNvSpPr/>
          <p:nvPr/>
        </p:nvSpPr>
        <p:spPr>
          <a:xfrm>
            <a:off x="254000" y="2422922"/>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11919"/>
                </a:solidFill>
                <a:latin typeface="Bricolage Grotesque" pitchFamily="34" charset="0"/>
                <a:ea typeface="Bricolage Grotesque" pitchFamily="34" charset="-122"/>
                <a:cs typeface="Bricolage Grotesque" pitchFamily="34" charset="-120"/>
              </a:rPr>
              <a:t>Voice AI hasn’t reached its ChatGPT moment yet · Build your own decision model</a:t>
            </a:r>
            <a:endParaRPr lang="en-US" sz="2600" dirty="0"/>
          </a:p>
        </p:txBody>
      </p:sp>
      <p:sp>
        <p:nvSpPr>
          <p:cNvPr id="8" name="Text 6"/>
          <p:cNvSpPr/>
          <p:nvPr/>
        </p:nvSpPr>
        <p:spPr>
          <a:xfrm>
            <a:off x="254000" y="2869406"/>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A2121"/>
                </a:solidFill>
                <a:latin typeface="Bricolage Grotesque" pitchFamily="34" charset="0"/>
                <a:ea typeface="Bricolage Grotesque" pitchFamily="34" charset="-122"/>
                <a:cs typeface="Bricolage Grotesque" pitchFamily="34" charset="-120"/>
              </a:rPr>
              <a:t>DistroKid has been quietly taking down songs · Anthropic is banishing its model evals from the internet</a:t>
            </a:r>
            <a:endParaRPr lang="en-US" sz="2600" dirty="0"/>
          </a:p>
        </p:txBody>
      </p:sp>
      <p:sp>
        <p:nvSpPr>
          <p:cNvPr id="9" name="Text 7"/>
          <p:cNvSpPr/>
          <p:nvPr/>
        </p:nvSpPr>
        <p:spPr>
          <a:xfrm>
            <a:off x="254000" y="3315891"/>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11919"/>
                </a:solidFill>
                <a:latin typeface="Bricolage Grotesque" pitchFamily="34" charset="0"/>
                <a:ea typeface="Bricolage Grotesque" pitchFamily="34" charset="-122"/>
                <a:cs typeface="Bricolage Grotesque" pitchFamily="34" charset="-120"/>
              </a:rPr>
              <a:t>AI is creating a ‘human premium’ for art · Learning to use local AI is exciting and overwhelming</a:t>
            </a:r>
            <a:endParaRPr lang="en-US" sz="2600" dirty="0"/>
          </a:p>
        </p:txBody>
      </p:sp>
      <p:sp>
        <p:nvSpPr>
          <p:cNvPr id="10" name="Text 8"/>
          <p:cNvSpPr/>
          <p:nvPr/>
        </p:nvSpPr>
        <p:spPr>
          <a:xfrm>
            <a:off x="254000" y="3762375"/>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A2121"/>
                </a:solidFill>
                <a:latin typeface="Bricolage Grotesque" pitchFamily="34" charset="0"/>
                <a:ea typeface="Bricolage Grotesque" pitchFamily="34" charset="-122"/>
                <a:cs typeface="Bricolage Grotesque" pitchFamily="34" charset="-120"/>
              </a:rPr>
              <a:t>Letting AI agents decompile a first-person shooter · New controls in Copilot for JetBrains</a:t>
            </a:r>
            <a:endParaRPr lang="en-US" sz="2600" dirty="0"/>
          </a:p>
        </p:txBody>
      </p:sp>
      <p:sp>
        <p:nvSpPr>
          <p:cNvPr id="11" name="Text 9"/>
          <p:cNvSpPr/>
          <p:nvPr/>
        </p:nvSpPr>
        <p:spPr>
          <a:xfrm>
            <a:off x="254000" y="4208859"/>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11919"/>
                </a:solidFill>
                <a:latin typeface="Bricolage Grotesque" pitchFamily="34" charset="0"/>
                <a:ea typeface="Bricolage Grotesque" pitchFamily="34" charset="-122"/>
                <a:cs typeface="Bricolage Grotesque" pitchFamily="34" charset="-120"/>
              </a:rPr>
              <a:t>AI data centers not paying their costs · A pay gap between male and female AI agents</a:t>
            </a:r>
            <a:endParaRPr lang="en-US" sz="2600" dirty="0"/>
          </a:p>
        </p:txBody>
      </p:sp>
      <p:sp>
        <p:nvSpPr>
          <p:cNvPr id="12" name="Text 10"/>
          <p:cNvSpPr/>
          <p:nvPr/>
        </p:nvSpPr>
        <p:spPr>
          <a:xfrm>
            <a:off x="254000" y="4655344"/>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A2121"/>
                </a:solidFill>
                <a:latin typeface="Bricolage Grotesque" pitchFamily="34" charset="0"/>
                <a:ea typeface="Bricolage Grotesque" pitchFamily="34" charset="-122"/>
                <a:cs typeface="Bricolage Grotesque" pitchFamily="34" charset="-120"/>
              </a:rPr>
              <a:t>Apple hires team from personalized podcast startup · Impactful scheduling for GPU clusters</a:t>
            </a:r>
            <a:endParaRPr lang="en-US" sz="2600" dirty="0"/>
          </a:p>
        </p:txBody>
      </p:sp>
      <p:sp>
        <p:nvSpPr>
          <p:cNvPr id="13" name="Text 11"/>
          <p:cNvSpPr/>
          <p:nvPr/>
        </p:nvSpPr>
        <p:spPr>
          <a:xfrm>
            <a:off x="254000" y="5101828"/>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11919"/>
                </a:solidFill>
                <a:latin typeface="Bricolage Grotesque" pitchFamily="34" charset="0"/>
                <a:ea typeface="Bricolage Grotesque" pitchFamily="34" charset="-122"/>
                <a:cs typeface="Bricolage Grotesque" pitchFamily="34" charset="-120"/>
              </a:rPr>
              <a:t>My AI agent posted my bank details on company Slack · Treating bugs like patients</a:t>
            </a:r>
            <a:endParaRPr lang="en-US" sz="2600" dirty="0"/>
          </a:p>
        </p:txBody>
      </p:sp>
      <p:sp>
        <p:nvSpPr>
          <p:cNvPr id="14" name="Text 12"/>
          <p:cNvSpPr/>
          <p:nvPr/>
        </p:nvSpPr>
        <p:spPr>
          <a:xfrm>
            <a:off x="254000" y="5548313"/>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A2121"/>
                </a:solidFill>
                <a:latin typeface="Bricolage Grotesque" pitchFamily="34" charset="0"/>
                <a:ea typeface="Bricolage Grotesque" pitchFamily="34" charset="-122"/>
                <a:cs typeface="Bricolage Grotesque" pitchFamily="34" charset="-120"/>
              </a:rPr>
              <a:t>Anthropic asks users to stop being mean to Claude · AI-native studios can create original IP</a:t>
            </a:r>
            <a:endParaRPr lang="en-US" sz="2600" dirty="0"/>
          </a:p>
        </p:txBody>
      </p:sp>
      <p:sp>
        <p:nvSpPr>
          <p:cNvPr id="15" name="Text 13"/>
          <p:cNvSpPr/>
          <p:nvPr/>
        </p:nvSpPr>
        <p:spPr>
          <a:xfrm>
            <a:off x="254000" y="5994797"/>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11919"/>
                </a:solidFill>
                <a:latin typeface="Bricolage Grotesque" pitchFamily="34" charset="0"/>
                <a:ea typeface="Bricolage Grotesque" pitchFamily="34" charset="-122"/>
                <a:cs typeface="Bricolage Grotesque" pitchFamily="34" charset="-120"/>
              </a:rPr>
              <a:t>This graph of data center spending will give you chills · Python 3.15.0 added to actions</a:t>
            </a:r>
            <a:endParaRPr lang="en-US" sz="2600" dirty="0"/>
          </a:p>
        </p:txBody>
      </p:sp>
      <p:sp>
        <p:nvSpPr>
          <p:cNvPr id="16" name="Text 14"/>
          <p:cNvSpPr/>
          <p:nvPr/>
        </p:nvSpPr>
        <p:spPr>
          <a:xfrm>
            <a:off x="254000" y="6441281"/>
            <a:ext cx="12296140" cy="408384"/>
          </a:xfrm>
          <a:prstGeom prst="rect">
            <a:avLst/>
          </a:prstGeom>
          <a:noFill/>
          <a:ln/>
        </p:spPr>
        <p:txBody>
          <a:bodyPr wrap="none" lIns="0" tIns="0" rIns="0" bIns="0" rtlCol="0" anchor="t">
            <a:normAutofit/>
          </a:bodyPr>
          <a:lstStyle/>
          <a:p>
            <a:pPr algn="l" indent="0" marL="0">
              <a:lnSpc>
                <a:spcPts val="3016"/>
              </a:lnSpc>
              <a:buNone/>
            </a:pPr>
            <a:r>
              <a:rPr lang="en-US" sz="2600" b="1" dirty="0">
                <a:solidFill>
                  <a:srgbClr val="2A2121"/>
                </a:solidFill>
                <a:latin typeface="Bricolage Grotesque" pitchFamily="34" charset="0"/>
                <a:ea typeface="Bricolage Grotesque" pitchFamily="34" charset="-122"/>
                <a:cs typeface="Bricolage Grotesque" pitchFamily="34" charset="-120"/>
              </a:rPr>
              <a:t>Major publishers reportedly cover their books in AI slop · Joseph Gordon-Levitt on AI</a:t>
            </a:r>
            <a:endParaRPr lang="en-US" sz="2600" dirty="0"/>
          </a:p>
        </p:txBody>
      </p:sp>
      <p:sp>
        <p:nvSpPr>
          <p:cNvPr id="17" name="Text 15"/>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FF2B33"/>
                </a:solidFill>
                <a:latin typeface="IBM Plex Mono" pitchFamily="49" charset="0"/>
                <a:ea typeface="IBM Plex Mono" pitchFamily="49" charset="-122"/>
                <a:cs typeface="IBM Plex Mono" pitchFamily="49" charset="-120"/>
              </a:rPr>
              <a:t>ONE ORDINARY MORNING OF AI NEWS</a:t>
            </a:r>
            <a:endParaRPr lang="en-US" sz="1200" dirty="0"/>
          </a:p>
        </p:txBody>
      </p:sp>
      <p:sp>
        <p:nvSpPr>
          <p:cNvPr id="18" name="Text 16"/>
          <p:cNvSpPr/>
          <p:nvPr>
            <p:ph type="title"/>
          </p:nvPr>
        </p:nvSpPr>
        <p:spPr>
          <a:xfrm>
            <a:off x="812800" y="2333784"/>
            <a:ext cx="9810750" cy="2215833"/>
          </a:xfrm>
          <a:prstGeom prst="rect">
            <a:avLst/>
          </a:prstGeom>
          <a:noFill/>
          <a:ln/>
        </p:spPr>
        <p:txBody>
          <a:bodyPr wrap="square" lIns="0" tIns="0" rIns="0" bIns="0" rtlCol="0" anchor="t">
            <a:normAutofit/>
          </a:bodyPr>
          <a:lstStyle/>
          <a:p>
            <a:pPr algn="l" indent="0" marL="0">
              <a:lnSpc>
                <a:spcPts val="8624"/>
              </a:lnSpc>
              <a:buNone/>
            </a:pPr>
            <a:r>
              <a:rPr lang="en-US" sz="8800" b="1" i="0" spc="-300" kern="0" dirty="0">
                <a:solidFill>
                  <a:srgbClr val="F1EFE9"/>
                </a:solidFill>
                <a:latin typeface="Bricolage Grotesque" pitchFamily="34" charset="0"/>
                <a:ea typeface="Bricolage Grotesque" pitchFamily="34" charset="-122"/>
                <a:cs typeface="Bricolage Grotesque" pitchFamily="34" charset="-120"/>
              </a:rPr>
              <a:t>The news isn’t missing. It’s buried.</a:t>
            </a:r>
            <a:endParaRPr lang="en-US" sz="8800" dirty="0"/>
          </a:p>
        </p:txBody>
      </p:sp>
      <p:sp>
        <p:nvSpPr>
          <p:cNvPr id="19" name="Text 17"/>
          <p:cNvSpPr/>
          <p:nvPr/>
        </p:nvSpPr>
        <p:spPr>
          <a:xfrm>
            <a:off x="812800" y="5831840"/>
            <a:ext cx="719455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A96"/>
                </a:solidFill>
                <a:latin typeface="IBM Plex Mono" pitchFamily="49" charset="0"/>
                <a:ea typeface="IBM Plex Mono" pitchFamily="49" charset="-122"/>
                <a:cs typeface="IBM Plex Mono" pitchFamily="49" charset="-120"/>
              </a:rPr>
              <a:t>[TEAM NAME] · [EVENT NAME]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FF2B33"/>
                </a:solidFill>
                <a:latin typeface="IBM Plex Mono" pitchFamily="49" charset="0"/>
                <a:ea typeface="IBM Plex Mono" pitchFamily="49" charset="-122"/>
                <a:cs typeface="IBM Plex Mono" pitchFamily="49" charset="-120"/>
              </a:rPr>
              <a:t>WHY NEWS MATTERS</a:t>
            </a:r>
            <a:endParaRPr lang="en-US" sz="1200" dirty="0"/>
          </a:p>
        </p:txBody>
      </p:sp>
      <p:sp>
        <p:nvSpPr>
          <p:cNvPr id="3" name="Text 1"/>
          <p:cNvSpPr/>
          <p:nvPr>
            <p:ph type="title"/>
          </p:nvPr>
        </p:nvSpPr>
        <p:spPr>
          <a:xfrm>
            <a:off x="812800" y="1330960"/>
            <a:ext cx="9810750" cy="1447800"/>
          </a:xfrm>
          <a:prstGeom prst="rect">
            <a:avLst/>
          </a:prstGeom>
          <a:noFill/>
          <a:ln/>
        </p:spPr>
        <p:txBody>
          <a:bodyPr wrap="square" lIns="0" tIns="0" rIns="0" bIns="0" rtlCol="0" anchor="t">
            <a:normAutofit/>
          </a:bodyPr>
          <a:lstStyle/>
          <a:p>
            <a:pPr algn="l" indent="0" marL="0">
              <a:lnSpc>
                <a:spcPts val="5600"/>
              </a:lnSpc>
              <a:buNone/>
            </a:pPr>
            <a:r>
              <a:rPr lang="en-US" sz="5600" b="1" i="0" spc="-150" kern="0" dirty="0">
                <a:solidFill>
                  <a:srgbClr val="F1EFE9"/>
                </a:solidFill>
                <a:latin typeface="Bricolage Grotesque" pitchFamily="34" charset="0"/>
                <a:ea typeface="Bricolage Grotesque" pitchFamily="34" charset="-122"/>
                <a:cs typeface="Bricolage Grotesque" pitchFamily="34" charset="-120"/>
              </a:rPr>
              <a:t>News is how we see change coming.</a:t>
            </a:r>
            <a:endParaRPr lang="en-US" sz="5600" dirty="0"/>
          </a:p>
        </p:txBody>
      </p:sp>
      <p:sp>
        <p:nvSpPr>
          <p:cNvPr id="4" name="Shape 2"/>
          <p:cNvSpPr/>
          <p:nvPr/>
        </p:nvSpPr>
        <p:spPr>
          <a:xfrm>
            <a:off x="815975" y="4170045"/>
            <a:ext cx="3397250" cy="1668780"/>
          </a:xfrm>
          <a:prstGeom prst="rect">
            <a:avLst/>
          </a:prstGeom>
          <a:solidFill>
            <a:srgbClr val="1A1414"/>
          </a:solidFill>
          <a:ln w="6350">
            <a:solidFill>
              <a:srgbClr val="3A2A2A"/>
            </a:solidFill>
            <a:prstDash val="solid"/>
          </a:ln>
        </p:spPr>
      </p:sp>
      <p:sp>
        <p:nvSpPr>
          <p:cNvPr id="5" name="Shape 3"/>
          <p:cNvSpPr/>
          <p:nvPr/>
        </p:nvSpPr>
        <p:spPr>
          <a:xfrm>
            <a:off x="1071880" y="4425950"/>
            <a:ext cx="406400" cy="38100"/>
          </a:xfrm>
          <a:prstGeom prst="rect">
            <a:avLst/>
          </a:prstGeom>
          <a:solidFill>
            <a:srgbClr val="FF2B33"/>
          </a:solidFill>
          <a:ln/>
        </p:spPr>
      </p:sp>
      <p:sp>
        <p:nvSpPr>
          <p:cNvPr id="6" name="Text 4"/>
          <p:cNvSpPr/>
          <p:nvPr/>
        </p:nvSpPr>
        <p:spPr>
          <a:xfrm>
            <a:off x="1071880" y="4552950"/>
            <a:ext cx="2972003" cy="452120"/>
          </a:xfrm>
          <a:prstGeom prst="rect">
            <a:avLst/>
          </a:prstGeom>
          <a:noFill/>
          <a:ln/>
        </p:spPr>
        <p:txBody>
          <a:bodyPr wrap="square" lIns="0" tIns="0" rIns="0" bIns="0" rtlCol="0" anchor="t">
            <a:normAutofit/>
          </a:bodyPr>
          <a:lstStyle/>
          <a:p>
            <a:pPr algn="l" indent="0" marL="0">
              <a:lnSpc>
                <a:spcPts val="3360"/>
              </a:lnSpc>
              <a:buNone/>
            </a:pPr>
            <a:r>
              <a:rPr lang="en-US" sz="3200" b="1" spc="-50" kern="0" dirty="0">
                <a:solidFill>
                  <a:srgbClr val="F1EFE9"/>
                </a:solidFill>
                <a:latin typeface="Bricolage Grotesque" pitchFamily="34" charset="0"/>
                <a:ea typeface="Bricolage Grotesque" pitchFamily="34" charset="-122"/>
                <a:cs typeface="Bricolage Grotesque" pitchFamily="34" charset="-120"/>
              </a:rPr>
              <a:t>Build.</a:t>
            </a:r>
            <a:endParaRPr lang="en-US" sz="3200" dirty="0"/>
          </a:p>
        </p:txBody>
      </p:sp>
      <p:sp>
        <p:nvSpPr>
          <p:cNvPr id="7" name="Text 5"/>
          <p:cNvSpPr/>
          <p:nvPr/>
        </p:nvSpPr>
        <p:spPr>
          <a:xfrm>
            <a:off x="1071880" y="5068570"/>
            <a:ext cx="297200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9A96"/>
                </a:solidFill>
                <a:latin typeface="Bricolage Grotesque" pitchFamily="34" charset="0"/>
                <a:ea typeface="Bricolage Grotesque" pitchFamily="34" charset="-122"/>
                <a:cs typeface="Bricolage Grotesque" pitchFamily="34" charset="-120"/>
              </a:rPr>
              <a:t>Know what just became possible.</a:t>
            </a:r>
            <a:endParaRPr lang="en-US" sz="1500" dirty="0"/>
          </a:p>
        </p:txBody>
      </p:sp>
      <p:sp>
        <p:nvSpPr>
          <p:cNvPr id="8" name="Shape 6"/>
          <p:cNvSpPr/>
          <p:nvPr/>
        </p:nvSpPr>
        <p:spPr>
          <a:xfrm>
            <a:off x="4397375" y="4170045"/>
            <a:ext cx="3397250" cy="1668780"/>
          </a:xfrm>
          <a:prstGeom prst="rect">
            <a:avLst/>
          </a:prstGeom>
          <a:solidFill>
            <a:srgbClr val="1A1414"/>
          </a:solidFill>
          <a:ln w="6350">
            <a:solidFill>
              <a:srgbClr val="3A2A2A"/>
            </a:solidFill>
            <a:prstDash val="solid"/>
          </a:ln>
        </p:spPr>
      </p:sp>
      <p:sp>
        <p:nvSpPr>
          <p:cNvPr id="9" name="Shape 7"/>
          <p:cNvSpPr/>
          <p:nvPr/>
        </p:nvSpPr>
        <p:spPr>
          <a:xfrm>
            <a:off x="4653280" y="4425950"/>
            <a:ext cx="406400" cy="38100"/>
          </a:xfrm>
          <a:prstGeom prst="rect">
            <a:avLst/>
          </a:prstGeom>
          <a:solidFill>
            <a:srgbClr val="FF2B33"/>
          </a:solidFill>
          <a:ln/>
        </p:spPr>
      </p:sp>
      <p:sp>
        <p:nvSpPr>
          <p:cNvPr id="10" name="Text 8"/>
          <p:cNvSpPr/>
          <p:nvPr/>
        </p:nvSpPr>
        <p:spPr>
          <a:xfrm>
            <a:off x="4653280" y="4552950"/>
            <a:ext cx="2972003" cy="452120"/>
          </a:xfrm>
          <a:prstGeom prst="rect">
            <a:avLst/>
          </a:prstGeom>
          <a:noFill/>
          <a:ln/>
        </p:spPr>
        <p:txBody>
          <a:bodyPr wrap="square" lIns="0" tIns="0" rIns="0" bIns="0" rtlCol="0" anchor="t">
            <a:normAutofit/>
          </a:bodyPr>
          <a:lstStyle/>
          <a:p>
            <a:pPr algn="l" indent="0" marL="0">
              <a:lnSpc>
                <a:spcPts val="3360"/>
              </a:lnSpc>
              <a:buNone/>
            </a:pPr>
            <a:r>
              <a:rPr lang="en-US" sz="3200" b="1" spc="-50" kern="0" dirty="0">
                <a:solidFill>
                  <a:srgbClr val="F1EFE9"/>
                </a:solidFill>
                <a:latin typeface="Bricolage Grotesque" pitchFamily="34" charset="0"/>
                <a:ea typeface="Bricolage Grotesque" pitchFamily="34" charset="-122"/>
                <a:cs typeface="Bricolage Grotesque" pitchFamily="34" charset="-120"/>
              </a:rPr>
              <a:t>Learn.</a:t>
            </a:r>
            <a:endParaRPr lang="en-US" sz="3200" dirty="0"/>
          </a:p>
        </p:txBody>
      </p:sp>
      <p:sp>
        <p:nvSpPr>
          <p:cNvPr id="11" name="Text 9"/>
          <p:cNvSpPr/>
          <p:nvPr/>
        </p:nvSpPr>
        <p:spPr>
          <a:xfrm>
            <a:off x="4653280" y="5068570"/>
            <a:ext cx="297200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9A96"/>
                </a:solidFill>
                <a:latin typeface="Bricolage Grotesque" pitchFamily="34" charset="0"/>
                <a:ea typeface="Bricolage Grotesque" pitchFamily="34" charset="-122"/>
                <a:cs typeface="Bricolage Grotesque" pitchFamily="34" charset="-120"/>
              </a:rPr>
              <a:t>Know which skills are next.</a:t>
            </a:r>
            <a:endParaRPr lang="en-US" sz="1500" dirty="0"/>
          </a:p>
        </p:txBody>
      </p:sp>
      <p:sp>
        <p:nvSpPr>
          <p:cNvPr id="12" name="Shape 10"/>
          <p:cNvSpPr/>
          <p:nvPr/>
        </p:nvSpPr>
        <p:spPr>
          <a:xfrm>
            <a:off x="7978775" y="4170045"/>
            <a:ext cx="3397250" cy="1668780"/>
          </a:xfrm>
          <a:prstGeom prst="rect">
            <a:avLst/>
          </a:prstGeom>
          <a:solidFill>
            <a:srgbClr val="1A1414"/>
          </a:solidFill>
          <a:ln w="6350">
            <a:solidFill>
              <a:srgbClr val="3A2A2A"/>
            </a:solidFill>
            <a:prstDash val="solid"/>
          </a:ln>
        </p:spPr>
      </p:sp>
      <p:sp>
        <p:nvSpPr>
          <p:cNvPr id="13" name="Shape 11"/>
          <p:cNvSpPr/>
          <p:nvPr/>
        </p:nvSpPr>
        <p:spPr>
          <a:xfrm>
            <a:off x="8234680" y="4425950"/>
            <a:ext cx="406400" cy="38100"/>
          </a:xfrm>
          <a:prstGeom prst="rect">
            <a:avLst/>
          </a:prstGeom>
          <a:solidFill>
            <a:srgbClr val="FF2B33"/>
          </a:solidFill>
          <a:ln/>
        </p:spPr>
      </p:sp>
      <p:sp>
        <p:nvSpPr>
          <p:cNvPr id="14" name="Text 12"/>
          <p:cNvSpPr/>
          <p:nvPr/>
        </p:nvSpPr>
        <p:spPr>
          <a:xfrm>
            <a:off x="8234680" y="4552950"/>
            <a:ext cx="2972003" cy="452120"/>
          </a:xfrm>
          <a:prstGeom prst="rect">
            <a:avLst/>
          </a:prstGeom>
          <a:noFill/>
          <a:ln/>
        </p:spPr>
        <p:txBody>
          <a:bodyPr wrap="square" lIns="0" tIns="0" rIns="0" bIns="0" rtlCol="0" anchor="t">
            <a:normAutofit/>
          </a:bodyPr>
          <a:lstStyle/>
          <a:p>
            <a:pPr algn="l" indent="0" marL="0">
              <a:lnSpc>
                <a:spcPts val="3360"/>
              </a:lnSpc>
              <a:buNone/>
            </a:pPr>
            <a:r>
              <a:rPr lang="en-US" sz="3200" b="1" spc="-50" kern="0" dirty="0">
                <a:solidFill>
                  <a:srgbClr val="F1EFE9"/>
                </a:solidFill>
                <a:latin typeface="Bricolage Grotesque" pitchFamily="34" charset="0"/>
                <a:ea typeface="Bricolage Grotesque" pitchFamily="34" charset="-122"/>
                <a:cs typeface="Bricolage Grotesque" pitchFamily="34" charset="-120"/>
              </a:rPr>
              <a:t>Decide.</a:t>
            </a:r>
            <a:endParaRPr lang="en-US" sz="3200" dirty="0"/>
          </a:p>
        </p:txBody>
      </p:sp>
      <p:sp>
        <p:nvSpPr>
          <p:cNvPr id="15" name="Text 13"/>
          <p:cNvSpPr/>
          <p:nvPr/>
        </p:nvSpPr>
        <p:spPr>
          <a:xfrm>
            <a:off x="8234680" y="5068570"/>
            <a:ext cx="297200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A39A96"/>
                </a:solidFill>
                <a:latin typeface="Bricolage Grotesque" pitchFamily="34" charset="0"/>
                <a:ea typeface="Bricolage Grotesque" pitchFamily="34" charset="-122"/>
                <a:cs typeface="Bricolage Grotesque" pitchFamily="34" charset="-120"/>
              </a:rPr>
              <a:t>Act on today, not last month.</a:t>
            </a:r>
            <a:endParaRPr lang="en-US" sz="1500" dirty="0"/>
          </a:p>
        </p:txBody>
      </p:sp>
      <p:pic>
        <p:nvPicPr>
          <p:cNvPr id="16" name="Image 0" descr="AIdea pulse mark">    </p:cNvPr>
          <p:cNvPicPr>
            <a:picLocks noChangeAspect="1"/>
          </p:cNvPicPr>
          <p:nvPr/>
        </p:nvPicPr>
        <p:blipFill>
          <a:blip r:embed="rId1"/>
          <a:srcRect l="0" r="0" t="0" b="0"/>
          <a:stretch/>
        </p:blipFill>
        <p:spPr>
          <a:xfrm>
            <a:off x="812800" y="6248400"/>
            <a:ext cx="457200" cy="254000"/>
          </a:xfrm>
          <a:prstGeom prst="rect">
            <a:avLst/>
          </a:prstGeom>
        </p:spPr>
      </p:pic>
      <p:sp>
        <p:nvSpPr>
          <p:cNvPr id="17" name="Text 14"/>
          <p:cNvSpPr/>
          <p:nvPr/>
        </p:nvSpPr>
        <p:spPr>
          <a:xfrm>
            <a:off x="1371600" y="6238241"/>
            <a:ext cx="2616200"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A39A96"/>
                </a:solidFill>
                <a:latin typeface="IBM Plex Mono" pitchFamily="49" charset="0"/>
                <a:ea typeface="IBM Plex Mono" pitchFamily="49" charset="-122"/>
                <a:cs typeface="IBM Plex Mono" pitchFamily="49" charset="-120"/>
              </a:rPr>
              <a:t>AIDEA</a:t>
            </a:r>
            <a:endParaRPr lang="en-US" sz="1200" dirty="0"/>
          </a:p>
        </p:txBody>
      </p:sp>
      <p:sp>
        <p:nvSpPr>
          <p:cNvPr id="18" name="Text 15"/>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FF2B33"/>
                </a:solidFill>
                <a:latin typeface="IBM Plex Mono" pitchFamily="49" charset="0"/>
                <a:ea typeface="IBM Plex Mono" pitchFamily="49" charset="-122"/>
                <a:cs typeface="IBM Plex Mono" pitchFamily="49" charset="-120"/>
              </a:rPr>
              <a:t>THE FRAGMENTED REALITY</a:t>
            </a:r>
            <a:endParaRPr lang="en-US" sz="1200" dirty="0"/>
          </a:p>
        </p:txBody>
      </p:sp>
      <p:sp>
        <p:nvSpPr>
          <p:cNvPr id="3" name="Text 1"/>
          <p:cNvSpPr/>
          <p:nvPr>
            <p:ph type="title"/>
          </p:nvPr>
        </p:nvSpPr>
        <p:spPr>
          <a:xfrm>
            <a:off x="812800" y="1330961"/>
            <a:ext cx="9810750" cy="736600"/>
          </a:xfrm>
          <a:prstGeom prst="rect">
            <a:avLst/>
          </a:prstGeom>
          <a:noFill/>
          <a:ln/>
        </p:spPr>
        <p:txBody>
          <a:bodyPr wrap="square" lIns="0" tIns="0" rIns="0" bIns="0" rtlCol="0" anchor="t">
            <a:normAutofit/>
          </a:bodyPr>
          <a:lstStyle/>
          <a:p>
            <a:pPr algn="l" indent="0" marL="0">
              <a:lnSpc>
                <a:spcPts val="5600"/>
              </a:lnSpc>
              <a:buNone/>
            </a:pPr>
            <a:r>
              <a:rPr lang="en-US" sz="5600" b="1" i="0" spc="-150" kern="0" dirty="0">
                <a:solidFill>
                  <a:srgbClr val="F1EFE9"/>
                </a:solidFill>
                <a:latin typeface="Bricolage Grotesque" pitchFamily="34" charset="0"/>
                <a:ea typeface="Bricolage Grotesque" pitchFamily="34" charset="-122"/>
                <a:cs typeface="Bricolage Grotesque" pitchFamily="34" charset="-120"/>
              </a:rPr>
              <a:t>And it lives in 41 places.</a:t>
            </a:r>
            <a:endParaRPr lang="en-US" sz="5600" dirty="0"/>
          </a:p>
        </p:txBody>
      </p:sp>
      <p:sp>
        <p:nvSpPr>
          <p:cNvPr id="4" name="Text 2"/>
          <p:cNvSpPr/>
          <p:nvPr/>
        </p:nvSpPr>
        <p:spPr>
          <a:xfrm rot="21300000">
            <a:off x="892175" y="3089275"/>
            <a:ext cx="14541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Anthropic</a:t>
            </a:r>
            <a:endParaRPr lang="en-US" sz="1400" dirty="0"/>
          </a:p>
        </p:txBody>
      </p:sp>
      <p:sp>
        <p:nvSpPr>
          <p:cNvPr id="5" name="Text 3"/>
          <p:cNvSpPr/>
          <p:nvPr/>
        </p:nvSpPr>
        <p:spPr>
          <a:xfrm rot="180000">
            <a:off x="2670175" y="2987676"/>
            <a:ext cx="1644650" cy="412750"/>
          </a:xfrm>
          <a:prstGeom prst="rect">
            <a:avLst/>
          </a:prstGeom>
          <a:noFill/>
          <a:ln w="6350">
            <a:solidFill>
              <a:srgbClr val="F1EFE9"/>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F1EFE9"/>
                </a:solidFill>
                <a:latin typeface="IBM Plex Mono" pitchFamily="49" charset="0"/>
                <a:ea typeface="IBM Plex Mono" pitchFamily="49" charset="-122"/>
                <a:cs typeface="IBM Plex Mono" pitchFamily="49" charset="-120"/>
              </a:rPr>
              <a:t>The Verge AI</a:t>
            </a:r>
            <a:endParaRPr lang="en-US" sz="1400" dirty="0"/>
          </a:p>
        </p:txBody>
      </p:sp>
      <p:sp>
        <p:nvSpPr>
          <p:cNvPr id="6" name="Text 4"/>
          <p:cNvSpPr/>
          <p:nvPr/>
        </p:nvSpPr>
        <p:spPr>
          <a:xfrm rot="21480000">
            <a:off x="4702175" y="3178175"/>
            <a:ext cx="15176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Hacker News</a:t>
            </a:r>
            <a:endParaRPr lang="en-US" sz="1400" dirty="0"/>
          </a:p>
        </p:txBody>
      </p:sp>
      <p:sp>
        <p:nvSpPr>
          <p:cNvPr id="7" name="Text 5"/>
          <p:cNvSpPr/>
          <p:nvPr/>
        </p:nvSpPr>
        <p:spPr>
          <a:xfrm rot="240000">
            <a:off x="6607175" y="3013076"/>
            <a:ext cx="15811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Hugging Face</a:t>
            </a:r>
            <a:endParaRPr lang="en-US" sz="1400" dirty="0"/>
          </a:p>
        </p:txBody>
      </p:sp>
      <p:sp>
        <p:nvSpPr>
          <p:cNvPr id="8" name="Text 6"/>
          <p:cNvSpPr/>
          <p:nvPr/>
        </p:nvSpPr>
        <p:spPr>
          <a:xfrm rot="21420000">
            <a:off x="8639175" y="3152776"/>
            <a:ext cx="2089150" cy="412750"/>
          </a:xfrm>
          <a:prstGeom prst="rect">
            <a:avLst/>
          </a:prstGeom>
          <a:noFill/>
          <a:ln w="6350">
            <a:solidFill>
              <a:srgbClr val="4A3A3A"/>
            </a:solidFill>
            <a:prstDash val="solid"/>
          </a:ln>
        </p:spPr>
        <p:txBody>
          <a:bodyPr wrap="square" lIns="101435" tIns="90805" rIns="10143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GitHub Changelog</a:t>
            </a:r>
            <a:endParaRPr lang="en-US" sz="1400" dirty="0"/>
          </a:p>
        </p:txBody>
      </p:sp>
      <p:sp>
        <p:nvSpPr>
          <p:cNvPr id="9" name="Text 7"/>
          <p:cNvSpPr/>
          <p:nvPr/>
        </p:nvSpPr>
        <p:spPr>
          <a:xfrm rot="240000">
            <a:off x="1273175" y="3851275"/>
            <a:ext cx="18351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TechCrunch AI</a:t>
            </a:r>
            <a:endParaRPr lang="en-US" sz="1400" dirty="0"/>
          </a:p>
        </p:txBody>
      </p:sp>
      <p:sp>
        <p:nvSpPr>
          <p:cNvPr id="10" name="Text 8"/>
          <p:cNvSpPr/>
          <p:nvPr/>
        </p:nvSpPr>
        <p:spPr>
          <a:xfrm rot="21360000">
            <a:off x="3559175" y="3749675"/>
            <a:ext cx="13271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Google AI</a:t>
            </a:r>
            <a:endParaRPr lang="en-US" sz="1400" dirty="0"/>
          </a:p>
        </p:txBody>
      </p:sp>
      <p:sp>
        <p:nvSpPr>
          <p:cNvPr id="11" name="Text 9"/>
          <p:cNvSpPr/>
          <p:nvPr/>
        </p:nvSpPr>
        <p:spPr>
          <a:xfrm rot="120000">
            <a:off x="5273675" y="3952876"/>
            <a:ext cx="1581150" cy="412750"/>
          </a:xfrm>
          <a:prstGeom prst="rect">
            <a:avLst/>
          </a:prstGeom>
          <a:noFill/>
          <a:ln w="6350">
            <a:solidFill>
              <a:srgbClr val="FF2B33"/>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FF2B33"/>
                </a:solidFill>
                <a:latin typeface="IBM Plex Mono" pitchFamily="49" charset="0"/>
                <a:ea typeface="IBM Plex Mono" pitchFamily="49" charset="-122"/>
                <a:cs typeface="IBM Plex Mono" pitchFamily="49" charset="-120"/>
              </a:rPr>
              <a:t>The Decoder</a:t>
            </a:r>
            <a:endParaRPr lang="en-US" sz="1400" dirty="0"/>
          </a:p>
        </p:txBody>
      </p:sp>
      <p:sp>
        <p:nvSpPr>
          <p:cNvPr id="12" name="Text 10"/>
          <p:cNvSpPr/>
          <p:nvPr/>
        </p:nvSpPr>
        <p:spPr>
          <a:xfrm rot="21240000">
            <a:off x="7242175" y="3787775"/>
            <a:ext cx="6921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FTC</a:t>
            </a:r>
            <a:endParaRPr lang="en-US" sz="1400" dirty="0"/>
          </a:p>
        </p:txBody>
      </p:sp>
      <p:sp>
        <p:nvSpPr>
          <p:cNvPr id="13" name="Text 11"/>
          <p:cNvSpPr/>
          <p:nvPr/>
        </p:nvSpPr>
        <p:spPr>
          <a:xfrm rot="180000">
            <a:off x="8321675" y="4003675"/>
            <a:ext cx="1200150" cy="412750"/>
          </a:xfrm>
          <a:prstGeom prst="rect">
            <a:avLst/>
          </a:prstGeom>
          <a:noFill/>
          <a:ln w="6350">
            <a:solidFill>
              <a:srgbClr val="F1EFE9"/>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F1EFE9"/>
                </a:solidFill>
                <a:latin typeface="IBM Plex Mono" pitchFamily="49" charset="0"/>
                <a:ea typeface="IBM Plex Mono" pitchFamily="49" charset="-122"/>
                <a:cs typeface="IBM Plex Mono" pitchFamily="49" charset="-120"/>
              </a:rPr>
              <a:t>Wired AI</a:t>
            </a:r>
            <a:endParaRPr lang="en-US" sz="1400" dirty="0"/>
          </a:p>
        </p:txBody>
      </p:sp>
      <p:sp>
        <p:nvSpPr>
          <p:cNvPr id="14" name="Text 12"/>
          <p:cNvSpPr/>
          <p:nvPr/>
        </p:nvSpPr>
        <p:spPr>
          <a:xfrm rot="21420000">
            <a:off x="9972675" y="3813175"/>
            <a:ext cx="10731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Variety</a:t>
            </a:r>
            <a:endParaRPr lang="en-US" sz="1400" dirty="0"/>
          </a:p>
        </p:txBody>
      </p:sp>
      <p:sp>
        <p:nvSpPr>
          <p:cNvPr id="15" name="Text 13"/>
          <p:cNvSpPr/>
          <p:nvPr/>
        </p:nvSpPr>
        <p:spPr>
          <a:xfrm rot="21420000">
            <a:off x="815975" y="4638676"/>
            <a:ext cx="16446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Latent Space</a:t>
            </a:r>
            <a:endParaRPr lang="en-US" sz="1400" dirty="0"/>
          </a:p>
        </p:txBody>
      </p:sp>
      <p:sp>
        <p:nvSpPr>
          <p:cNvPr id="16" name="Text 14"/>
          <p:cNvSpPr/>
          <p:nvPr/>
        </p:nvSpPr>
        <p:spPr>
          <a:xfrm rot="300000">
            <a:off x="2797175" y="4549775"/>
            <a:ext cx="2533650" cy="412750"/>
          </a:xfrm>
          <a:prstGeom prst="rect">
            <a:avLst/>
          </a:prstGeom>
          <a:noFill/>
          <a:ln w="6350">
            <a:solidFill>
              <a:srgbClr val="4A3A3A"/>
            </a:solidFill>
            <a:prstDash val="solid"/>
          </a:ln>
        </p:spPr>
        <p:txBody>
          <a:bodyPr wrap="square" lIns="94767" tIns="90805" rIns="94767"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European Commission</a:t>
            </a:r>
            <a:endParaRPr lang="en-US" sz="1400" dirty="0"/>
          </a:p>
        </p:txBody>
      </p:sp>
      <p:sp>
        <p:nvSpPr>
          <p:cNvPr id="17" name="Text 15"/>
          <p:cNvSpPr/>
          <p:nvPr/>
        </p:nvSpPr>
        <p:spPr>
          <a:xfrm rot="21360000">
            <a:off x="5718175" y="4714876"/>
            <a:ext cx="12001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DeepSeek</a:t>
            </a:r>
            <a:endParaRPr lang="en-US" sz="1400" dirty="0"/>
          </a:p>
        </p:txBody>
      </p:sp>
      <p:sp>
        <p:nvSpPr>
          <p:cNvPr id="18" name="Text 16"/>
          <p:cNvSpPr/>
          <p:nvPr/>
        </p:nvSpPr>
        <p:spPr>
          <a:xfrm rot="180000">
            <a:off x="7242175" y="4575176"/>
            <a:ext cx="1962150" cy="412750"/>
          </a:xfrm>
          <a:prstGeom prst="rect">
            <a:avLst/>
          </a:prstGeom>
          <a:noFill/>
          <a:ln w="6350">
            <a:solidFill>
              <a:srgbClr val="4A3A3A"/>
            </a:solidFill>
            <a:prstDash val="solid"/>
          </a:ln>
        </p:spPr>
        <p:txBody>
          <a:bodyPr wrap="square" lIns="103340" tIns="90805" rIns="103340"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BBC Technology</a:t>
            </a:r>
            <a:endParaRPr lang="en-US" sz="1400" dirty="0"/>
          </a:p>
        </p:txBody>
      </p:sp>
      <p:sp>
        <p:nvSpPr>
          <p:cNvPr id="19" name="Text 17"/>
          <p:cNvSpPr/>
          <p:nvPr/>
        </p:nvSpPr>
        <p:spPr>
          <a:xfrm rot="21300000">
            <a:off x="9591675" y="4689475"/>
            <a:ext cx="9461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Ollama</a:t>
            </a:r>
            <a:endParaRPr lang="en-US" sz="1400" dirty="0"/>
          </a:p>
        </p:txBody>
      </p:sp>
      <p:sp>
        <p:nvSpPr>
          <p:cNvPr id="20" name="Text 18"/>
          <p:cNvSpPr/>
          <p:nvPr/>
        </p:nvSpPr>
        <p:spPr>
          <a:xfrm rot="180000">
            <a:off x="1654175" y="5311776"/>
            <a:ext cx="2025650" cy="412750"/>
          </a:xfrm>
          <a:prstGeom prst="rect">
            <a:avLst/>
          </a:prstGeom>
          <a:noFill/>
          <a:ln w="6350">
            <a:solidFill>
              <a:srgbClr val="F1EFE9"/>
            </a:solidFill>
            <a:prstDash val="solid"/>
          </a:ln>
        </p:spPr>
        <p:txBody>
          <a:bodyPr wrap="square" lIns="102387" tIns="90805" rIns="102387" bIns="65405" rtlCol="0" anchor="t">
            <a:normAutofit/>
          </a:bodyPr>
          <a:lstStyle/>
          <a:p>
            <a:pPr algn="ctr" indent="0" marL="0">
              <a:lnSpc>
                <a:spcPts val="1820"/>
              </a:lnSpc>
              <a:buNone/>
            </a:pPr>
            <a:r>
              <a:rPr lang="en-US" sz="1400" dirty="0">
                <a:solidFill>
                  <a:srgbClr val="F1EFE9"/>
                </a:solidFill>
                <a:latin typeface="IBM Plex Mono" pitchFamily="49" charset="0"/>
                <a:ea typeface="IBM Plex Mono" pitchFamily="49" charset="-122"/>
                <a:cs typeface="IBM Plex Mono" pitchFamily="49" charset="-120"/>
              </a:rPr>
              <a:t>The Guardian AI</a:t>
            </a:r>
            <a:endParaRPr lang="en-US" sz="1400" dirty="0"/>
          </a:p>
        </p:txBody>
      </p:sp>
      <p:sp>
        <p:nvSpPr>
          <p:cNvPr id="21" name="Text 19"/>
          <p:cNvSpPr/>
          <p:nvPr/>
        </p:nvSpPr>
        <p:spPr>
          <a:xfrm rot="21420000">
            <a:off x="4194175" y="5400675"/>
            <a:ext cx="12636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404 Media</a:t>
            </a:r>
            <a:endParaRPr lang="en-US" sz="1400" dirty="0"/>
          </a:p>
        </p:txBody>
      </p:sp>
      <p:sp>
        <p:nvSpPr>
          <p:cNvPr id="22" name="Text 20"/>
          <p:cNvSpPr/>
          <p:nvPr/>
        </p:nvSpPr>
        <p:spPr>
          <a:xfrm rot="240000">
            <a:off x="5908675" y="5286376"/>
            <a:ext cx="1581150" cy="412750"/>
          </a:xfrm>
          <a:prstGeom prst="rect">
            <a:avLst/>
          </a:prstGeom>
          <a:noFill/>
          <a:ln w="6350">
            <a:solidFill>
              <a:srgbClr val="4A3A3A"/>
            </a:solidFill>
            <a:prstDash val="solid"/>
          </a:ln>
        </p:spPr>
        <p:txBody>
          <a:bodyPr wrap="square" lIns="103505" tIns="90805" rIns="103505"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Futurism AI</a:t>
            </a:r>
            <a:endParaRPr lang="en-US" sz="1400" dirty="0"/>
          </a:p>
        </p:txBody>
      </p:sp>
      <p:sp>
        <p:nvSpPr>
          <p:cNvPr id="23" name="Text 21"/>
          <p:cNvSpPr/>
          <p:nvPr/>
        </p:nvSpPr>
        <p:spPr>
          <a:xfrm rot="21480000">
            <a:off x="7813675" y="5387976"/>
            <a:ext cx="2216150" cy="412750"/>
          </a:xfrm>
          <a:prstGeom prst="rect">
            <a:avLst/>
          </a:prstGeom>
          <a:noFill/>
          <a:ln w="6350">
            <a:solidFill>
              <a:srgbClr val="4A3A3A"/>
            </a:solidFill>
            <a:prstDash val="solid"/>
          </a:ln>
        </p:spPr>
        <p:txBody>
          <a:bodyPr wrap="square" lIns="99530" tIns="90805" rIns="99530" bIns="65405" rtlCol="0" anchor="t">
            <a:normAutofit/>
          </a:bodyPr>
          <a:lstStyle/>
          <a:p>
            <a:pPr algn="ctr" indent="0" marL="0">
              <a:lnSpc>
                <a:spcPts val="1820"/>
              </a:lnSpc>
              <a:buNone/>
            </a:pPr>
            <a:r>
              <a:rPr lang="en-US" sz="1400" dirty="0">
                <a:solidFill>
                  <a:srgbClr val="A39A96"/>
                </a:solidFill>
                <a:latin typeface="IBM Plex Mono" pitchFamily="49" charset="0"/>
                <a:ea typeface="IBM Plex Mono" pitchFamily="49" charset="-122"/>
                <a:cs typeface="IBM Plex Mono" pitchFamily="49" charset="-120"/>
              </a:rPr>
              <a:t>Tech Policy Press</a:t>
            </a:r>
            <a:endParaRPr lang="en-US" sz="1400" dirty="0"/>
          </a:p>
        </p:txBody>
      </p:sp>
      <p:pic>
        <p:nvPicPr>
          <p:cNvPr id="24" name="Image 0" descr="AIdea pulse mark">    </p:cNvPr>
          <p:cNvPicPr>
            <a:picLocks noChangeAspect="1"/>
          </p:cNvPicPr>
          <p:nvPr/>
        </p:nvPicPr>
        <p:blipFill>
          <a:blip r:embed="rId1"/>
          <a:srcRect l="0" r="0" t="0" b="0"/>
          <a:stretch/>
        </p:blipFill>
        <p:spPr>
          <a:xfrm>
            <a:off x="812800" y="6248400"/>
            <a:ext cx="457200" cy="254000"/>
          </a:xfrm>
          <a:prstGeom prst="rect">
            <a:avLst/>
          </a:prstGeom>
        </p:spPr>
      </p:pic>
      <p:sp>
        <p:nvSpPr>
          <p:cNvPr id="25" name="Text 22"/>
          <p:cNvSpPr/>
          <p:nvPr/>
        </p:nvSpPr>
        <p:spPr>
          <a:xfrm>
            <a:off x="13716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39A96"/>
                </a:solidFill>
                <a:latin typeface="IBM Plex Mono" pitchFamily="49" charset="0"/>
                <a:ea typeface="IBM Plex Mono" pitchFamily="49" charset="-122"/>
                <a:cs typeface="IBM Plex Mono" pitchFamily="49" charset="-120"/>
              </a:rPr>
              <a:t>AIDEA · 20 of the 41 sources our system follows</a:t>
            </a:r>
            <a:endParaRPr lang="en-US" sz="1200" dirty="0"/>
          </a:p>
        </p:txBody>
      </p:sp>
      <p:sp>
        <p:nvSpPr>
          <p:cNvPr id="26" name="Text 23"/>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FF2B33"/>
                </a:solidFill>
                <a:latin typeface="IBM Plex Mono" pitchFamily="49" charset="0"/>
                <a:ea typeface="IBM Plex Mono" pitchFamily="49" charset="-122"/>
                <a:cs typeface="IBM Plex Mono" pitchFamily="49" charset="-120"/>
              </a:rPr>
              <a:t>THE HIDDEN COST</a:t>
            </a:r>
            <a:endParaRPr lang="en-US" sz="1200" dirty="0"/>
          </a:p>
        </p:txBody>
      </p:sp>
      <p:sp>
        <p:nvSpPr>
          <p:cNvPr id="3" name="Text 1"/>
          <p:cNvSpPr/>
          <p:nvPr>
            <p:ph type="title"/>
          </p:nvPr>
        </p:nvSpPr>
        <p:spPr>
          <a:xfrm>
            <a:off x="812800" y="1330961"/>
            <a:ext cx="9810750" cy="1447800"/>
          </a:xfrm>
          <a:prstGeom prst="rect">
            <a:avLst/>
          </a:prstGeom>
          <a:noFill/>
          <a:ln/>
        </p:spPr>
        <p:txBody>
          <a:bodyPr wrap="square" lIns="0" tIns="0" rIns="0" bIns="0" rtlCol="0" anchor="t">
            <a:normAutofit/>
          </a:bodyPr>
          <a:lstStyle/>
          <a:p>
            <a:pPr algn="l" indent="0" marL="0">
              <a:lnSpc>
                <a:spcPts val="5600"/>
              </a:lnSpc>
              <a:buNone/>
            </a:pPr>
            <a:r>
              <a:rPr lang="en-US" sz="5600" b="1" i="0" spc="-150" kern="0" dirty="0">
                <a:solidFill>
                  <a:srgbClr val="F1EFE9"/>
                </a:solidFill>
                <a:latin typeface="Bricolage Grotesque" pitchFamily="34" charset="0"/>
                <a:ea typeface="Bricolage Grotesque" pitchFamily="34" charset="-122"/>
                <a:cs typeface="Bricolage Grotesque" pitchFamily="34" charset="-120"/>
              </a:rPr>
              <a:t>Keeping up costs more than time.</a:t>
            </a:r>
            <a:endParaRPr lang="en-US" sz="5600" dirty="0"/>
          </a:p>
        </p:txBody>
      </p:sp>
      <p:sp>
        <p:nvSpPr>
          <p:cNvPr id="4" name="Shape 2"/>
          <p:cNvSpPr/>
          <p:nvPr/>
        </p:nvSpPr>
        <p:spPr>
          <a:xfrm>
            <a:off x="815975" y="4599305"/>
            <a:ext cx="2005330" cy="1239520"/>
          </a:xfrm>
          <a:prstGeom prst="rect">
            <a:avLst/>
          </a:prstGeom>
          <a:solidFill>
            <a:srgbClr val="1A1414"/>
          </a:solidFill>
          <a:ln w="6350">
            <a:solidFill>
              <a:srgbClr val="FF2B33"/>
            </a:solidFill>
            <a:prstDash val="solid"/>
          </a:ln>
        </p:spPr>
      </p:sp>
      <p:sp>
        <p:nvSpPr>
          <p:cNvPr id="5" name="Text 3"/>
          <p:cNvSpPr/>
          <p:nvPr/>
        </p:nvSpPr>
        <p:spPr>
          <a:xfrm>
            <a:off x="995680" y="4804411"/>
            <a:ext cx="169672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F2B33"/>
                </a:solidFill>
                <a:latin typeface="Bricolage Grotesque" pitchFamily="34" charset="0"/>
                <a:ea typeface="Bricolage Grotesque" pitchFamily="34" charset="-122"/>
                <a:cs typeface="Bricolage Grotesque" pitchFamily="34" charset="-120"/>
              </a:rPr>
              <a:t>Time</a:t>
            </a:r>
            <a:endParaRPr lang="en-US" sz="2200" dirty="0"/>
          </a:p>
        </p:txBody>
      </p:sp>
      <p:sp>
        <p:nvSpPr>
          <p:cNvPr id="6" name="Text 4"/>
          <p:cNvSpPr/>
          <p:nvPr/>
        </p:nvSpPr>
        <p:spPr>
          <a:xfrm>
            <a:off x="995680" y="5187950"/>
            <a:ext cx="169672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1EFE9"/>
                </a:solidFill>
                <a:latin typeface="Bricolage Grotesque" pitchFamily="34" charset="0"/>
                <a:ea typeface="Bricolage Grotesque" pitchFamily="34" charset="-122"/>
                <a:cs typeface="Bricolage Grotesque" pitchFamily="34" charset="-120"/>
              </a:rPr>
              <a:t>Searching and screening.</a:t>
            </a:r>
            <a:endParaRPr lang="en-US" sz="1300" dirty="0"/>
          </a:p>
        </p:txBody>
      </p:sp>
      <p:sp>
        <p:nvSpPr>
          <p:cNvPr id="7" name="Shape 5"/>
          <p:cNvSpPr/>
          <p:nvPr/>
        </p:nvSpPr>
        <p:spPr>
          <a:xfrm>
            <a:off x="2954655" y="4599305"/>
            <a:ext cx="2005330" cy="1239520"/>
          </a:xfrm>
          <a:prstGeom prst="rect">
            <a:avLst/>
          </a:prstGeom>
          <a:solidFill>
            <a:srgbClr val="1A1414"/>
          </a:solidFill>
          <a:ln w="6350">
            <a:solidFill>
              <a:srgbClr val="3A2A2A"/>
            </a:solidFill>
            <a:prstDash val="solid"/>
          </a:ln>
        </p:spPr>
      </p:sp>
      <p:sp>
        <p:nvSpPr>
          <p:cNvPr id="8" name="Text 6"/>
          <p:cNvSpPr/>
          <p:nvPr/>
        </p:nvSpPr>
        <p:spPr>
          <a:xfrm>
            <a:off x="3134360" y="4804411"/>
            <a:ext cx="169672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1EFE9"/>
                </a:solidFill>
                <a:latin typeface="Bricolage Grotesque" pitchFamily="34" charset="0"/>
                <a:ea typeface="Bricolage Grotesque" pitchFamily="34" charset="-122"/>
                <a:cs typeface="Bricolage Grotesque" pitchFamily="34" charset="-120"/>
              </a:rPr>
              <a:t>Attention</a:t>
            </a:r>
            <a:endParaRPr lang="en-US" sz="2200" dirty="0"/>
          </a:p>
        </p:txBody>
      </p:sp>
      <p:sp>
        <p:nvSpPr>
          <p:cNvPr id="9" name="Text 7"/>
          <p:cNvSpPr/>
          <p:nvPr/>
        </p:nvSpPr>
        <p:spPr>
          <a:xfrm>
            <a:off x="3134360" y="5187950"/>
            <a:ext cx="169672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A39A96"/>
                </a:solidFill>
                <a:latin typeface="Bricolage Grotesque" pitchFamily="34" charset="0"/>
                <a:ea typeface="Bricolage Grotesque" pitchFamily="34" charset="-122"/>
                <a:cs typeface="Bricolage Grotesque" pitchFamily="34" charset="-120"/>
              </a:rPr>
              <a:t>Every tab is a context switch.</a:t>
            </a:r>
            <a:endParaRPr lang="en-US" sz="1300" dirty="0"/>
          </a:p>
        </p:txBody>
      </p:sp>
      <p:sp>
        <p:nvSpPr>
          <p:cNvPr id="10" name="Shape 8"/>
          <p:cNvSpPr/>
          <p:nvPr/>
        </p:nvSpPr>
        <p:spPr>
          <a:xfrm>
            <a:off x="5093335" y="4599305"/>
            <a:ext cx="2005330" cy="1239520"/>
          </a:xfrm>
          <a:prstGeom prst="rect">
            <a:avLst/>
          </a:prstGeom>
          <a:solidFill>
            <a:srgbClr val="1A1414"/>
          </a:solidFill>
          <a:ln w="6350">
            <a:solidFill>
              <a:srgbClr val="3A2A2A"/>
            </a:solidFill>
            <a:prstDash val="solid"/>
          </a:ln>
        </p:spPr>
      </p:sp>
      <p:sp>
        <p:nvSpPr>
          <p:cNvPr id="11" name="Text 9"/>
          <p:cNvSpPr/>
          <p:nvPr/>
        </p:nvSpPr>
        <p:spPr>
          <a:xfrm>
            <a:off x="5273040" y="4804411"/>
            <a:ext cx="169672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1EFE9"/>
                </a:solidFill>
                <a:latin typeface="Bricolage Grotesque" pitchFamily="34" charset="0"/>
                <a:ea typeface="Bricolage Grotesque" pitchFamily="34" charset="-122"/>
                <a:cs typeface="Bricolage Grotesque" pitchFamily="34" charset="-120"/>
              </a:rPr>
              <a:t>Misses</a:t>
            </a:r>
            <a:endParaRPr lang="en-US" sz="2200" dirty="0"/>
          </a:p>
        </p:txBody>
      </p:sp>
      <p:sp>
        <p:nvSpPr>
          <p:cNvPr id="12" name="Text 10"/>
          <p:cNvSpPr/>
          <p:nvPr/>
        </p:nvSpPr>
        <p:spPr>
          <a:xfrm>
            <a:off x="5273040" y="5187950"/>
            <a:ext cx="169672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A39A96"/>
                </a:solidFill>
                <a:latin typeface="Bricolage Grotesque" pitchFamily="34" charset="0"/>
                <a:ea typeface="Bricolage Grotesque" pitchFamily="34" charset="-122"/>
                <a:cs typeface="Bricolage Grotesque" pitchFamily="34" charset="-120"/>
              </a:rPr>
              <a:t>The big story, under ten small ones.</a:t>
            </a:r>
            <a:endParaRPr lang="en-US" sz="1300" dirty="0"/>
          </a:p>
        </p:txBody>
      </p:sp>
      <p:sp>
        <p:nvSpPr>
          <p:cNvPr id="13" name="Shape 11"/>
          <p:cNvSpPr/>
          <p:nvPr/>
        </p:nvSpPr>
        <p:spPr>
          <a:xfrm>
            <a:off x="7232015" y="4599305"/>
            <a:ext cx="2005330" cy="1239520"/>
          </a:xfrm>
          <a:prstGeom prst="rect">
            <a:avLst/>
          </a:prstGeom>
          <a:solidFill>
            <a:srgbClr val="1A1414"/>
          </a:solidFill>
          <a:ln w="6350">
            <a:solidFill>
              <a:srgbClr val="3A2A2A"/>
            </a:solidFill>
            <a:prstDash val="solid"/>
          </a:ln>
        </p:spPr>
      </p:sp>
      <p:sp>
        <p:nvSpPr>
          <p:cNvPr id="14" name="Text 12"/>
          <p:cNvSpPr/>
          <p:nvPr/>
        </p:nvSpPr>
        <p:spPr>
          <a:xfrm>
            <a:off x="7411720" y="4804411"/>
            <a:ext cx="169672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1EFE9"/>
                </a:solidFill>
                <a:latin typeface="Bricolage Grotesque" pitchFamily="34" charset="0"/>
                <a:ea typeface="Bricolage Grotesque" pitchFamily="34" charset="-122"/>
                <a:cs typeface="Bricolage Grotesque" pitchFamily="34" charset="-120"/>
              </a:rPr>
              <a:t>Habit</a:t>
            </a:r>
            <a:endParaRPr lang="en-US" sz="2200" dirty="0"/>
          </a:p>
        </p:txBody>
      </p:sp>
      <p:sp>
        <p:nvSpPr>
          <p:cNvPr id="15" name="Text 13"/>
          <p:cNvSpPr/>
          <p:nvPr/>
        </p:nvSpPr>
        <p:spPr>
          <a:xfrm>
            <a:off x="7411720" y="5187950"/>
            <a:ext cx="169672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A39A96"/>
                </a:solidFill>
                <a:latin typeface="Bricolage Grotesque" pitchFamily="34" charset="0"/>
                <a:ea typeface="Bricolage Grotesque" pitchFamily="34" charset="-122"/>
                <a:cs typeface="Bricolage Grotesque" pitchFamily="34" charset="-120"/>
              </a:rPr>
              <a:t>First thing dropped on a busy day.</a:t>
            </a:r>
            <a:endParaRPr lang="en-US" sz="1300" dirty="0"/>
          </a:p>
        </p:txBody>
      </p:sp>
      <p:sp>
        <p:nvSpPr>
          <p:cNvPr id="16" name="Shape 14"/>
          <p:cNvSpPr/>
          <p:nvPr/>
        </p:nvSpPr>
        <p:spPr>
          <a:xfrm>
            <a:off x="9370695" y="4599305"/>
            <a:ext cx="2005330" cy="1239520"/>
          </a:xfrm>
          <a:prstGeom prst="rect">
            <a:avLst/>
          </a:prstGeom>
          <a:solidFill>
            <a:srgbClr val="1A1414"/>
          </a:solidFill>
          <a:ln w="6350">
            <a:solidFill>
              <a:srgbClr val="3A2A2A"/>
            </a:solidFill>
            <a:prstDash val="solid"/>
          </a:ln>
        </p:spPr>
      </p:sp>
      <p:sp>
        <p:nvSpPr>
          <p:cNvPr id="17" name="Text 15"/>
          <p:cNvSpPr/>
          <p:nvPr/>
        </p:nvSpPr>
        <p:spPr>
          <a:xfrm>
            <a:off x="9550400" y="4804411"/>
            <a:ext cx="1696720"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1EFE9"/>
                </a:solidFill>
                <a:latin typeface="Bricolage Grotesque" pitchFamily="34" charset="0"/>
                <a:ea typeface="Bricolage Grotesque" pitchFamily="34" charset="-122"/>
                <a:cs typeface="Bricolage Grotesque" pitchFamily="34" charset="-120"/>
              </a:rPr>
              <a:t>Effort</a:t>
            </a:r>
            <a:endParaRPr lang="en-US" sz="2200" dirty="0"/>
          </a:p>
        </p:txBody>
      </p:sp>
      <p:sp>
        <p:nvSpPr>
          <p:cNvPr id="18" name="Text 16"/>
          <p:cNvSpPr/>
          <p:nvPr/>
        </p:nvSpPr>
        <p:spPr>
          <a:xfrm>
            <a:off x="9550400" y="5187950"/>
            <a:ext cx="169672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A39A96"/>
                </a:solidFill>
                <a:latin typeface="Bricolage Grotesque" pitchFamily="34" charset="0"/>
                <a:ea typeface="Bricolage Grotesque" pitchFamily="34" charset="-122"/>
                <a:cs typeface="Bricolage Grotesque" pitchFamily="34" charset="-120"/>
              </a:rPr>
              <a:t>You still decide what matters.</a:t>
            </a:r>
            <a:endParaRPr lang="en-US" sz="1300" dirty="0"/>
          </a:p>
        </p:txBody>
      </p:sp>
      <p:pic>
        <p:nvPicPr>
          <p:cNvPr id="19" name="Image 0" descr="AIdea pulse mark">    </p:cNvPr>
          <p:cNvPicPr>
            <a:picLocks noChangeAspect="1"/>
          </p:cNvPicPr>
          <p:nvPr/>
        </p:nvPicPr>
        <p:blipFill>
          <a:blip r:embed="rId1"/>
          <a:srcRect l="0" r="0" t="0" b="0"/>
          <a:stretch/>
        </p:blipFill>
        <p:spPr>
          <a:xfrm>
            <a:off x="812800" y="6248400"/>
            <a:ext cx="457200" cy="254000"/>
          </a:xfrm>
          <a:prstGeom prst="rect">
            <a:avLst/>
          </a:prstGeom>
        </p:spPr>
      </p:pic>
      <p:sp>
        <p:nvSpPr>
          <p:cNvPr id="20" name="Text 17"/>
          <p:cNvSpPr/>
          <p:nvPr/>
        </p:nvSpPr>
        <p:spPr>
          <a:xfrm>
            <a:off x="13716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A39A96"/>
                </a:solidFill>
                <a:latin typeface="IBM Plex Mono" pitchFamily="49" charset="0"/>
                <a:ea typeface="IBM Plex Mono" pitchFamily="49" charset="-122"/>
                <a:cs typeface="IBM Plex Mono" pitchFamily="49" charset="-120"/>
              </a:rPr>
              <a:t>AIDEA</a:t>
            </a:r>
            <a:endParaRPr lang="en-US" sz="1200" dirty="0"/>
          </a:p>
        </p:txBody>
      </p:sp>
      <p:sp>
        <p:nvSpPr>
          <p:cNvPr id="21" name="Text 1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FF2B33"/>
                </a:solidFill>
                <a:latin typeface="IBM Plex Mono" pitchFamily="49" charset="0"/>
                <a:ea typeface="IBM Plex Mono" pitchFamily="49" charset="-122"/>
                <a:cs typeface="IBM Plex Mono" pitchFamily="49" charset="-120"/>
              </a:rPr>
              <a:t>THE DAILY LOOP</a:t>
            </a:r>
            <a:endParaRPr lang="en-US" sz="1200" dirty="0"/>
          </a:p>
        </p:txBody>
      </p:sp>
      <p:sp>
        <p:nvSpPr>
          <p:cNvPr id="3" name="Text 1"/>
          <p:cNvSpPr/>
          <p:nvPr>
            <p:ph type="title"/>
          </p:nvPr>
        </p:nvSpPr>
        <p:spPr>
          <a:xfrm>
            <a:off x="812800" y="1305561"/>
            <a:ext cx="9810750" cy="736600"/>
          </a:xfrm>
          <a:prstGeom prst="rect">
            <a:avLst/>
          </a:prstGeom>
          <a:noFill/>
          <a:ln/>
        </p:spPr>
        <p:txBody>
          <a:bodyPr wrap="square" lIns="0" tIns="0" rIns="0" bIns="0" rtlCol="0" anchor="t">
            <a:normAutofit/>
          </a:bodyPr>
          <a:lstStyle/>
          <a:p>
            <a:pPr algn="l" indent="0" marL="0">
              <a:lnSpc>
                <a:spcPts val="5600"/>
              </a:lnSpc>
              <a:buNone/>
            </a:pPr>
            <a:r>
              <a:rPr lang="en-US" sz="5600" b="1" i="0" spc="-150" kern="0" dirty="0">
                <a:solidFill>
                  <a:srgbClr val="F1EFE9"/>
                </a:solidFill>
                <a:latin typeface="Bricolage Grotesque" pitchFamily="34" charset="0"/>
                <a:ea typeface="Bricolage Grotesque" pitchFamily="34" charset="-122"/>
                <a:cs typeface="Bricolage Grotesque" pitchFamily="34" charset="-120"/>
              </a:rPr>
              <a:t>Seven steps. Every day.</a:t>
            </a:r>
            <a:endParaRPr lang="en-US" sz="5600" dirty="0"/>
          </a:p>
        </p:txBody>
      </p:sp>
      <p:sp>
        <p:nvSpPr>
          <p:cNvPr id="4" name="Shape 2"/>
          <p:cNvSpPr/>
          <p:nvPr/>
        </p:nvSpPr>
        <p:spPr>
          <a:xfrm>
            <a:off x="812800" y="2305686"/>
            <a:ext cx="1520349" cy="0"/>
          </a:xfrm>
          <a:prstGeom prst="line">
            <a:avLst/>
          </a:prstGeom>
          <a:noFill/>
          <a:ln w="19050">
            <a:solidFill>
              <a:srgbClr val="3A2A2A"/>
            </a:solidFill>
            <a:prstDash val="solid"/>
          </a:ln>
        </p:spPr>
      </p:sp>
      <p:sp>
        <p:nvSpPr>
          <p:cNvPr id="5" name="Text 3"/>
          <p:cNvSpPr/>
          <p:nvPr/>
        </p:nvSpPr>
        <p:spPr>
          <a:xfrm>
            <a:off x="812800" y="2438400"/>
            <a:ext cx="14949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1</a:t>
            </a:r>
            <a:endParaRPr lang="en-US" sz="1200" dirty="0"/>
          </a:p>
        </p:txBody>
      </p:sp>
      <p:sp>
        <p:nvSpPr>
          <p:cNvPr id="6" name="Text 4"/>
          <p:cNvSpPr/>
          <p:nvPr/>
        </p:nvSpPr>
        <p:spPr>
          <a:xfrm>
            <a:off x="812800" y="2702561"/>
            <a:ext cx="1494949" cy="302895"/>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1EFE9"/>
                </a:solidFill>
                <a:latin typeface="Bricolage Grotesque" pitchFamily="34" charset="0"/>
                <a:ea typeface="Bricolage Grotesque" pitchFamily="34" charset="-122"/>
                <a:cs typeface="Bricolage Grotesque" pitchFamily="34" charset="-120"/>
              </a:rPr>
              <a:t>Open</a:t>
            </a:r>
            <a:endParaRPr lang="en-US" sz="1900" dirty="0"/>
          </a:p>
        </p:txBody>
      </p:sp>
      <p:sp>
        <p:nvSpPr>
          <p:cNvPr id="7" name="Shape 5"/>
          <p:cNvSpPr/>
          <p:nvPr/>
        </p:nvSpPr>
        <p:spPr>
          <a:xfrm>
            <a:off x="2333149" y="2305686"/>
            <a:ext cx="1520428" cy="0"/>
          </a:xfrm>
          <a:prstGeom prst="line">
            <a:avLst/>
          </a:prstGeom>
          <a:noFill/>
          <a:ln w="19050">
            <a:solidFill>
              <a:srgbClr val="3A2A2A"/>
            </a:solidFill>
            <a:prstDash val="solid"/>
          </a:ln>
        </p:spPr>
      </p:sp>
      <p:sp>
        <p:nvSpPr>
          <p:cNvPr id="8" name="Text 6"/>
          <p:cNvSpPr/>
          <p:nvPr/>
        </p:nvSpPr>
        <p:spPr>
          <a:xfrm>
            <a:off x="2333149" y="2438400"/>
            <a:ext cx="14950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2</a:t>
            </a:r>
            <a:endParaRPr lang="en-US" sz="1200" dirty="0"/>
          </a:p>
        </p:txBody>
      </p:sp>
      <p:sp>
        <p:nvSpPr>
          <p:cNvPr id="9" name="Text 7"/>
          <p:cNvSpPr/>
          <p:nvPr/>
        </p:nvSpPr>
        <p:spPr>
          <a:xfrm>
            <a:off x="2333149" y="2702561"/>
            <a:ext cx="1495028" cy="302895"/>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1EFE9"/>
                </a:solidFill>
                <a:latin typeface="Bricolage Grotesque" pitchFamily="34" charset="0"/>
                <a:ea typeface="Bricolage Grotesque" pitchFamily="34" charset="-122"/>
                <a:cs typeface="Bricolage Grotesque" pitchFamily="34" charset="-120"/>
              </a:rPr>
              <a:t>Scan</a:t>
            </a:r>
            <a:endParaRPr lang="en-US" sz="1900" dirty="0"/>
          </a:p>
        </p:txBody>
      </p:sp>
      <p:sp>
        <p:nvSpPr>
          <p:cNvPr id="10" name="Shape 8"/>
          <p:cNvSpPr/>
          <p:nvPr/>
        </p:nvSpPr>
        <p:spPr>
          <a:xfrm>
            <a:off x="3853577" y="2305686"/>
            <a:ext cx="1520349" cy="0"/>
          </a:xfrm>
          <a:prstGeom prst="line">
            <a:avLst/>
          </a:prstGeom>
          <a:noFill/>
          <a:ln w="19050">
            <a:solidFill>
              <a:srgbClr val="3A2A2A"/>
            </a:solidFill>
            <a:prstDash val="solid"/>
          </a:ln>
        </p:spPr>
      </p:sp>
      <p:sp>
        <p:nvSpPr>
          <p:cNvPr id="11" name="Text 9"/>
          <p:cNvSpPr/>
          <p:nvPr/>
        </p:nvSpPr>
        <p:spPr>
          <a:xfrm>
            <a:off x="3853577" y="2438400"/>
            <a:ext cx="14949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3</a:t>
            </a:r>
            <a:endParaRPr lang="en-US" sz="1200" dirty="0"/>
          </a:p>
        </p:txBody>
      </p:sp>
      <p:sp>
        <p:nvSpPr>
          <p:cNvPr id="12" name="Text 10"/>
          <p:cNvSpPr/>
          <p:nvPr/>
        </p:nvSpPr>
        <p:spPr>
          <a:xfrm>
            <a:off x="3853577" y="2702561"/>
            <a:ext cx="1494949" cy="302895"/>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1EFE9"/>
                </a:solidFill>
                <a:latin typeface="Bricolage Grotesque" pitchFamily="34" charset="0"/>
                <a:ea typeface="Bricolage Grotesque" pitchFamily="34" charset="-122"/>
                <a:cs typeface="Bricolage Grotesque" pitchFamily="34" charset="-120"/>
              </a:rPr>
              <a:t>Click</a:t>
            </a:r>
            <a:endParaRPr lang="en-US" sz="1900" dirty="0"/>
          </a:p>
        </p:txBody>
      </p:sp>
      <p:sp>
        <p:nvSpPr>
          <p:cNvPr id="13" name="Shape 11"/>
          <p:cNvSpPr/>
          <p:nvPr/>
        </p:nvSpPr>
        <p:spPr>
          <a:xfrm>
            <a:off x="5373926" y="2305686"/>
            <a:ext cx="1520428" cy="0"/>
          </a:xfrm>
          <a:prstGeom prst="line">
            <a:avLst/>
          </a:prstGeom>
          <a:noFill/>
          <a:ln w="19050">
            <a:solidFill>
              <a:srgbClr val="3A2A2A"/>
            </a:solidFill>
            <a:prstDash val="solid"/>
          </a:ln>
        </p:spPr>
      </p:sp>
      <p:sp>
        <p:nvSpPr>
          <p:cNvPr id="14" name="Text 12"/>
          <p:cNvSpPr/>
          <p:nvPr/>
        </p:nvSpPr>
        <p:spPr>
          <a:xfrm>
            <a:off x="5373926" y="2438400"/>
            <a:ext cx="14950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5373926" y="2702561"/>
            <a:ext cx="1495028" cy="302895"/>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1EFE9"/>
                </a:solidFill>
                <a:latin typeface="Bricolage Grotesque" pitchFamily="34" charset="0"/>
                <a:ea typeface="Bricolage Grotesque" pitchFamily="34" charset="-122"/>
                <a:cs typeface="Bricolage Grotesque" pitchFamily="34" charset="-120"/>
              </a:rPr>
              <a:t>Judge</a:t>
            </a:r>
            <a:endParaRPr lang="en-US" sz="1900" dirty="0"/>
          </a:p>
        </p:txBody>
      </p:sp>
      <p:sp>
        <p:nvSpPr>
          <p:cNvPr id="16" name="Shape 14"/>
          <p:cNvSpPr/>
          <p:nvPr/>
        </p:nvSpPr>
        <p:spPr>
          <a:xfrm>
            <a:off x="6894354" y="2305686"/>
            <a:ext cx="1520349" cy="0"/>
          </a:xfrm>
          <a:prstGeom prst="line">
            <a:avLst/>
          </a:prstGeom>
          <a:noFill/>
          <a:ln w="19050">
            <a:solidFill>
              <a:srgbClr val="3A2A2A"/>
            </a:solidFill>
            <a:prstDash val="solid"/>
          </a:ln>
        </p:spPr>
      </p:sp>
      <p:sp>
        <p:nvSpPr>
          <p:cNvPr id="17" name="Text 15"/>
          <p:cNvSpPr/>
          <p:nvPr/>
        </p:nvSpPr>
        <p:spPr>
          <a:xfrm>
            <a:off x="6894354" y="2438400"/>
            <a:ext cx="14949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5</a:t>
            </a:r>
            <a:endParaRPr lang="en-US" sz="1200" dirty="0"/>
          </a:p>
        </p:txBody>
      </p:sp>
      <p:sp>
        <p:nvSpPr>
          <p:cNvPr id="18" name="Text 16"/>
          <p:cNvSpPr/>
          <p:nvPr/>
        </p:nvSpPr>
        <p:spPr>
          <a:xfrm>
            <a:off x="6894354" y="2702561"/>
            <a:ext cx="1494949" cy="302895"/>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1EFE9"/>
                </a:solidFill>
                <a:latin typeface="Bricolage Grotesque" pitchFamily="34" charset="0"/>
                <a:ea typeface="Bricolage Grotesque" pitchFamily="34" charset="-122"/>
                <a:cs typeface="Bricolage Grotesque" pitchFamily="34" charset="-120"/>
              </a:rPr>
              <a:t>Compare</a:t>
            </a:r>
            <a:endParaRPr lang="en-US" sz="1900" dirty="0"/>
          </a:p>
        </p:txBody>
      </p:sp>
      <p:sp>
        <p:nvSpPr>
          <p:cNvPr id="19" name="Shape 17"/>
          <p:cNvSpPr/>
          <p:nvPr/>
        </p:nvSpPr>
        <p:spPr>
          <a:xfrm>
            <a:off x="8414703" y="2305686"/>
            <a:ext cx="1520349" cy="0"/>
          </a:xfrm>
          <a:prstGeom prst="line">
            <a:avLst/>
          </a:prstGeom>
          <a:noFill/>
          <a:ln w="19050">
            <a:solidFill>
              <a:srgbClr val="3A2A2A"/>
            </a:solidFill>
            <a:prstDash val="solid"/>
          </a:ln>
        </p:spPr>
      </p:sp>
      <p:sp>
        <p:nvSpPr>
          <p:cNvPr id="20" name="Text 18"/>
          <p:cNvSpPr/>
          <p:nvPr/>
        </p:nvSpPr>
        <p:spPr>
          <a:xfrm>
            <a:off x="8414703" y="2438400"/>
            <a:ext cx="14949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6</a:t>
            </a:r>
            <a:endParaRPr lang="en-US" sz="1200" dirty="0"/>
          </a:p>
        </p:txBody>
      </p:sp>
      <p:sp>
        <p:nvSpPr>
          <p:cNvPr id="21" name="Text 19"/>
          <p:cNvSpPr/>
          <p:nvPr/>
        </p:nvSpPr>
        <p:spPr>
          <a:xfrm>
            <a:off x="8414703" y="2702561"/>
            <a:ext cx="1494949" cy="302895"/>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1EFE9"/>
                </a:solidFill>
                <a:latin typeface="Bricolage Grotesque" pitchFamily="34" charset="0"/>
                <a:ea typeface="Bricolage Grotesque" pitchFamily="34" charset="-122"/>
                <a:cs typeface="Bricolage Grotesque" pitchFamily="34" charset="-120"/>
              </a:rPr>
              <a:t>Save</a:t>
            </a:r>
            <a:endParaRPr lang="en-US" sz="1900" dirty="0"/>
          </a:p>
        </p:txBody>
      </p:sp>
      <p:sp>
        <p:nvSpPr>
          <p:cNvPr id="22" name="Shape 20"/>
          <p:cNvSpPr/>
          <p:nvPr/>
        </p:nvSpPr>
        <p:spPr>
          <a:xfrm>
            <a:off x="9935052" y="2305686"/>
            <a:ext cx="1444149" cy="0"/>
          </a:xfrm>
          <a:prstGeom prst="line">
            <a:avLst/>
          </a:prstGeom>
          <a:noFill/>
          <a:ln w="19050">
            <a:solidFill>
              <a:srgbClr val="FF2B33"/>
            </a:solidFill>
            <a:prstDash val="solid"/>
          </a:ln>
        </p:spPr>
      </p:sp>
      <p:sp>
        <p:nvSpPr>
          <p:cNvPr id="23" name="Text 21"/>
          <p:cNvSpPr/>
          <p:nvPr/>
        </p:nvSpPr>
        <p:spPr>
          <a:xfrm>
            <a:off x="9935052" y="2438400"/>
            <a:ext cx="14949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2B33"/>
                </a:solidFill>
                <a:latin typeface="IBM Plex Mono" pitchFamily="49" charset="0"/>
                <a:ea typeface="IBM Plex Mono" pitchFamily="49" charset="-122"/>
                <a:cs typeface="IBM Plex Mono" pitchFamily="49" charset="-120"/>
              </a:rPr>
              <a:t>7</a:t>
            </a:r>
            <a:endParaRPr lang="en-US" sz="1200" dirty="0"/>
          </a:p>
        </p:txBody>
      </p:sp>
      <p:sp>
        <p:nvSpPr>
          <p:cNvPr id="24" name="Text 22"/>
          <p:cNvSpPr/>
          <p:nvPr/>
        </p:nvSpPr>
        <p:spPr>
          <a:xfrm>
            <a:off x="9935052" y="2702561"/>
            <a:ext cx="1494949" cy="302895"/>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FF2B33"/>
                </a:solidFill>
                <a:latin typeface="Bricolage Grotesque" pitchFamily="34" charset="0"/>
                <a:ea typeface="Bricolage Grotesque" pitchFamily="34" charset="-122"/>
                <a:cs typeface="Bricolage Grotesque" pitchFamily="34" charset="-120"/>
              </a:rPr>
              <a:t>Repeat</a:t>
            </a:r>
            <a:endParaRPr lang="en-US" sz="1900" dirty="0"/>
          </a:p>
        </p:txBody>
      </p:sp>
      <p:sp>
        <p:nvSpPr>
          <p:cNvPr id="25" name="Shape 23"/>
          <p:cNvSpPr/>
          <p:nvPr/>
        </p:nvSpPr>
        <p:spPr>
          <a:xfrm>
            <a:off x="815975" y="4498975"/>
            <a:ext cx="3397250" cy="1339850"/>
          </a:xfrm>
          <a:prstGeom prst="rect">
            <a:avLst/>
          </a:prstGeom>
          <a:solidFill>
            <a:srgbClr val="1A1414"/>
          </a:solidFill>
          <a:ln w="6350">
            <a:solidFill>
              <a:srgbClr val="3A2A2A"/>
            </a:solidFill>
            <a:prstDash val="solid"/>
          </a:ln>
        </p:spPr>
      </p:sp>
      <p:sp>
        <p:nvSpPr>
          <p:cNvPr id="26" name="Text 24"/>
          <p:cNvSpPr/>
          <p:nvPr/>
        </p:nvSpPr>
        <p:spPr>
          <a:xfrm>
            <a:off x="1071880" y="4704082"/>
            <a:ext cx="2972003" cy="685800"/>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F1EFE9"/>
                </a:solidFill>
                <a:latin typeface="Bricolage Grotesque" pitchFamily="34" charset="0"/>
                <a:ea typeface="Bricolage Grotesque" pitchFamily="34" charset="-122"/>
                <a:cs typeface="Bricolage Grotesque" pitchFamily="34" charset="-120"/>
              </a:rPr>
              <a:t>22,735</a:t>
            </a:r>
            <a:endParaRPr lang="en-US" sz="5200" dirty="0"/>
          </a:p>
        </p:txBody>
      </p:sp>
      <p:sp>
        <p:nvSpPr>
          <p:cNvPr id="27" name="Text 25"/>
          <p:cNvSpPr/>
          <p:nvPr/>
        </p:nvSpPr>
        <p:spPr>
          <a:xfrm>
            <a:off x="1071880" y="5402582"/>
            <a:ext cx="2972003"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39A96"/>
                </a:solidFill>
                <a:latin typeface="Bricolage Grotesque" pitchFamily="34" charset="0"/>
                <a:ea typeface="Bricolage Grotesque" pitchFamily="34" charset="-122"/>
                <a:cs typeface="Bricolage Grotesque" pitchFamily="34" charset="-120"/>
              </a:rPr>
              <a:t>entries to scan</a:t>
            </a:r>
            <a:endParaRPr lang="en-US" sz="1400" dirty="0"/>
          </a:p>
        </p:txBody>
      </p:sp>
      <p:sp>
        <p:nvSpPr>
          <p:cNvPr id="28" name="Shape 26"/>
          <p:cNvSpPr/>
          <p:nvPr/>
        </p:nvSpPr>
        <p:spPr>
          <a:xfrm>
            <a:off x="4397375" y="4498975"/>
            <a:ext cx="3397250" cy="1339850"/>
          </a:xfrm>
          <a:prstGeom prst="rect">
            <a:avLst/>
          </a:prstGeom>
          <a:solidFill>
            <a:srgbClr val="1A1414"/>
          </a:solidFill>
          <a:ln w="6350">
            <a:solidFill>
              <a:srgbClr val="3A2A2A"/>
            </a:solidFill>
            <a:prstDash val="solid"/>
          </a:ln>
        </p:spPr>
      </p:sp>
      <p:sp>
        <p:nvSpPr>
          <p:cNvPr id="29" name="Text 27"/>
          <p:cNvSpPr/>
          <p:nvPr/>
        </p:nvSpPr>
        <p:spPr>
          <a:xfrm>
            <a:off x="4653280" y="4704082"/>
            <a:ext cx="2972003" cy="685800"/>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F1EFE9"/>
                </a:solidFill>
                <a:latin typeface="Bricolage Grotesque" pitchFamily="34" charset="0"/>
                <a:ea typeface="Bricolage Grotesque" pitchFamily="34" charset="-122"/>
                <a:cs typeface="Bricolage Grotesque" pitchFamily="34" charset="-120"/>
              </a:rPr>
              <a:t>73</a:t>
            </a:r>
            <a:endParaRPr lang="en-US" sz="5200" dirty="0"/>
          </a:p>
        </p:txBody>
      </p:sp>
      <p:sp>
        <p:nvSpPr>
          <p:cNvPr id="30" name="Text 28"/>
          <p:cNvSpPr/>
          <p:nvPr/>
        </p:nvSpPr>
        <p:spPr>
          <a:xfrm>
            <a:off x="4653280" y="5402582"/>
            <a:ext cx="2972003"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39A96"/>
                </a:solidFill>
                <a:latin typeface="Bricolage Grotesque" pitchFamily="34" charset="0"/>
                <a:ea typeface="Bricolage Grotesque" pitchFamily="34" charset="-122"/>
                <a:cs typeface="Bricolage Grotesque" pitchFamily="34" charset="-120"/>
              </a:rPr>
              <a:t>stories worth it</a:t>
            </a:r>
            <a:endParaRPr lang="en-US" sz="1400" dirty="0"/>
          </a:p>
        </p:txBody>
      </p:sp>
      <p:sp>
        <p:nvSpPr>
          <p:cNvPr id="31" name="Shape 29"/>
          <p:cNvSpPr/>
          <p:nvPr/>
        </p:nvSpPr>
        <p:spPr>
          <a:xfrm>
            <a:off x="7978775" y="4498975"/>
            <a:ext cx="3397250" cy="1339850"/>
          </a:xfrm>
          <a:prstGeom prst="rect">
            <a:avLst/>
          </a:prstGeom>
          <a:solidFill>
            <a:srgbClr val="1A1414"/>
          </a:solidFill>
          <a:ln w="6350">
            <a:solidFill>
              <a:srgbClr val="FF2B33"/>
            </a:solidFill>
            <a:prstDash val="solid"/>
          </a:ln>
        </p:spPr>
      </p:sp>
      <p:sp>
        <p:nvSpPr>
          <p:cNvPr id="32" name="Text 30"/>
          <p:cNvSpPr/>
          <p:nvPr/>
        </p:nvSpPr>
        <p:spPr>
          <a:xfrm>
            <a:off x="8234680" y="4704082"/>
            <a:ext cx="2972003" cy="685800"/>
          </a:xfrm>
          <a:prstGeom prst="rect">
            <a:avLst/>
          </a:prstGeom>
          <a:noFill/>
          <a:ln/>
        </p:spPr>
        <p:txBody>
          <a:bodyPr wrap="square" lIns="0" tIns="0" rIns="0" bIns="0" rtlCol="0" anchor="t">
            <a:normAutofit/>
          </a:bodyPr>
          <a:lstStyle/>
          <a:p>
            <a:pPr algn="l" indent="0" marL="0">
              <a:lnSpc>
                <a:spcPts val="5200"/>
              </a:lnSpc>
              <a:buNone/>
            </a:pPr>
            <a:r>
              <a:rPr lang="en-US" sz="5200" b="1" spc="-150" kern="0" dirty="0">
                <a:solidFill>
                  <a:srgbClr val="FF2B33"/>
                </a:solidFill>
                <a:latin typeface="Bricolage Grotesque" pitchFamily="34" charset="0"/>
                <a:ea typeface="Bricolage Grotesque" pitchFamily="34" charset="-122"/>
                <a:cs typeface="Bricolage Grotesque" pitchFamily="34" charset="-120"/>
              </a:rPr>
              <a:t>6.5 hrs</a:t>
            </a:r>
            <a:endParaRPr lang="en-US" sz="5200" dirty="0"/>
          </a:p>
        </p:txBody>
      </p:sp>
      <p:sp>
        <p:nvSpPr>
          <p:cNvPr id="33" name="Text 31"/>
          <p:cNvSpPr/>
          <p:nvPr/>
        </p:nvSpPr>
        <p:spPr>
          <a:xfrm>
            <a:off x="8234680" y="5402582"/>
            <a:ext cx="2972003"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1EFE9"/>
                </a:solidFill>
                <a:latin typeface="Bricolage Grotesque" pitchFamily="34" charset="0"/>
                <a:ea typeface="Bricolage Grotesque" pitchFamily="34" charset="-122"/>
                <a:cs typeface="Bricolage Grotesque" pitchFamily="34" charset="-120"/>
              </a:rPr>
              <a:t>to read them</a:t>
            </a:r>
            <a:endParaRPr lang="en-US" sz="1400" dirty="0"/>
          </a:p>
        </p:txBody>
      </p:sp>
      <p:pic>
        <p:nvPicPr>
          <p:cNvPr id="34" name="Image 0" descr="AIdea pulse mark">    </p:cNvPr>
          <p:cNvPicPr>
            <a:picLocks noChangeAspect="1"/>
          </p:cNvPicPr>
          <p:nvPr/>
        </p:nvPicPr>
        <p:blipFill>
          <a:blip r:embed="rId1"/>
          <a:srcRect l="0" r="0" t="0" b="0"/>
          <a:stretch/>
        </p:blipFill>
        <p:spPr>
          <a:xfrm>
            <a:off x="812800" y="6248400"/>
            <a:ext cx="457200" cy="254000"/>
          </a:xfrm>
          <a:prstGeom prst="rect">
            <a:avLst/>
          </a:prstGeom>
        </p:spPr>
      </p:pic>
      <p:sp>
        <p:nvSpPr>
          <p:cNvPr id="35" name="Text 32"/>
          <p:cNvSpPr/>
          <p:nvPr/>
        </p:nvSpPr>
        <p:spPr>
          <a:xfrm>
            <a:off x="13716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39A96"/>
                </a:solidFill>
                <a:latin typeface="IBM Plex Mono" pitchFamily="49" charset="0"/>
                <a:ea typeface="IBM Plex Mono" pitchFamily="49" charset="-122"/>
                <a:cs typeface="IBM Plex Mono" pitchFamily="49" charset="-120"/>
              </a:rPr>
              <a:t>AIDEA · measured over our first five days of runs</a:t>
            </a:r>
            <a:endParaRPr lang="en-US" sz="1200" dirty="0"/>
          </a:p>
        </p:txBody>
      </p:sp>
      <p:sp>
        <p:nvSpPr>
          <p:cNvPr id="36" name="Text 3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FF2B33"/>
                </a:solidFill>
                <a:latin typeface="IBM Plex Mono" pitchFamily="49" charset="0"/>
                <a:ea typeface="IBM Plex Mono" pitchFamily="49" charset="-122"/>
                <a:cs typeface="IBM Plex Mono" pitchFamily="49" charset="-120"/>
              </a:rPr>
              <a:t>WHY AI NEWS FIRST</a:t>
            </a:r>
            <a:endParaRPr lang="en-US" sz="1200" dirty="0"/>
          </a:p>
        </p:txBody>
      </p:sp>
      <p:sp>
        <p:nvSpPr>
          <p:cNvPr id="3" name="Text 1"/>
          <p:cNvSpPr/>
          <p:nvPr>
            <p:ph type="title"/>
          </p:nvPr>
        </p:nvSpPr>
        <p:spPr>
          <a:xfrm>
            <a:off x="812800" y="1330961"/>
            <a:ext cx="10203180" cy="736600"/>
          </a:xfrm>
          <a:prstGeom prst="rect">
            <a:avLst/>
          </a:prstGeom>
          <a:noFill/>
          <a:ln/>
        </p:spPr>
        <p:txBody>
          <a:bodyPr wrap="square" lIns="0" tIns="0" rIns="0" bIns="0" rtlCol="0" anchor="t">
            <a:normAutofit/>
          </a:bodyPr>
          <a:lstStyle/>
          <a:p>
            <a:pPr algn="l" indent="0" marL="0">
              <a:lnSpc>
                <a:spcPts val="5600"/>
              </a:lnSpc>
              <a:buNone/>
            </a:pPr>
            <a:r>
              <a:rPr lang="en-US" sz="5600" b="1" i="0" spc="-150" kern="0" dirty="0">
                <a:solidFill>
                  <a:srgbClr val="F1EFE9"/>
                </a:solidFill>
                <a:latin typeface="Bricolage Grotesque" pitchFamily="34" charset="0"/>
                <a:ea typeface="Bricolage Grotesque" pitchFamily="34" charset="-122"/>
                <a:cs typeface="Bricolage Grotesque" pitchFamily="34" charset="-120"/>
              </a:rPr>
              <a:t>We start where it’s loudest.</a:t>
            </a:r>
            <a:endParaRPr lang="en-US" sz="5600" dirty="0"/>
          </a:p>
        </p:txBody>
      </p:sp>
      <p:sp>
        <p:nvSpPr>
          <p:cNvPr id="4" name="Shape 2"/>
          <p:cNvSpPr/>
          <p:nvPr/>
        </p:nvSpPr>
        <p:spPr>
          <a:xfrm>
            <a:off x="815975" y="3734436"/>
            <a:ext cx="3431064" cy="985520"/>
          </a:xfrm>
          <a:prstGeom prst="rect">
            <a:avLst/>
          </a:prstGeom>
          <a:solidFill>
            <a:srgbClr val="1A1414"/>
          </a:solidFill>
          <a:ln w="6350">
            <a:solidFill>
              <a:srgbClr val="3A2A2A"/>
            </a:solidFill>
            <a:prstDash val="solid"/>
          </a:ln>
        </p:spPr>
      </p:sp>
      <p:sp>
        <p:nvSpPr>
          <p:cNvPr id="5" name="Text 3"/>
          <p:cNvSpPr/>
          <p:nvPr/>
        </p:nvSpPr>
        <p:spPr>
          <a:xfrm>
            <a:off x="1046480" y="3926839"/>
            <a:ext cx="3059155"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1EFE9"/>
                </a:solidFill>
                <a:latin typeface="Bricolage Grotesque" pitchFamily="34" charset="0"/>
                <a:ea typeface="Bricolage Grotesque" pitchFamily="34" charset="-122"/>
                <a:cs typeface="Bricolage Grotesque" pitchFamily="34" charset="-120"/>
              </a:rPr>
              <a:t>Models</a:t>
            </a:r>
            <a:endParaRPr lang="en-US" sz="2400" dirty="0"/>
          </a:p>
        </p:txBody>
      </p:sp>
      <p:sp>
        <p:nvSpPr>
          <p:cNvPr id="6" name="Text 4"/>
          <p:cNvSpPr/>
          <p:nvPr/>
        </p:nvSpPr>
        <p:spPr>
          <a:xfrm>
            <a:off x="1046480" y="4312921"/>
            <a:ext cx="305915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A39A96"/>
                </a:solidFill>
                <a:latin typeface="Bricolage Grotesque" pitchFamily="34" charset="0"/>
                <a:ea typeface="Bricolage Grotesque" pitchFamily="34" charset="-122"/>
                <a:cs typeface="Bricolage Grotesque" pitchFamily="34" charset="-120"/>
              </a:rPr>
              <a:t>and research</a:t>
            </a:r>
            <a:endParaRPr lang="en-US" sz="1300" dirty="0"/>
          </a:p>
        </p:txBody>
      </p:sp>
      <p:sp>
        <p:nvSpPr>
          <p:cNvPr id="7" name="Shape 5"/>
          <p:cNvSpPr/>
          <p:nvPr/>
        </p:nvSpPr>
        <p:spPr>
          <a:xfrm>
            <a:off x="4380389" y="3734436"/>
            <a:ext cx="3431143" cy="985520"/>
          </a:xfrm>
          <a:prstGeom prst="rect">
            <a:avLst/>
          </a:prstGeom>
          <a:solidFill>
            <a:srgbClr val="1A1414"/>
          </a:solidFill>
          <a:ln w="6350">
            <a:solidFill>
              <a:srgbClr val="3A2A2A"/>
            </a:solidFill>
            <a:prstDash val="solid"/>
          </a:ln>
        </p:spPr>
      </p:sp>
      <p:sp>
        <p:nvSpPr>
          <p:cNvPr id="8" name="Text 6"/>
          <p:cNvSpPr/>
          <p:nvPr/>
        </p:nvSpPr>
        <p:spPr>
          <a:xfrm>
            <a:off x="4610894" y="3926839"/>
            <a:ext cx="305923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1EFE9"/>
                </a:solidFill>
                <a:latin typeface="Bricolage Grotesque" pitchFamily="34" charset="0"/>
                <a:ea typeface="Bricolage Grotesque" pitchFamily="34" charset="-122"/>
                <a:cs typeface="Bricolage Grotesque" pitchFamily="34" charset="-120"/>
              </a:rPr>
              <a:t>Products</a:t>
            </a:r>
            <a:endParaRPr lang="en-US" sz="2400" dirty="0"/>
          </a:p>
        </p:txBody>
      </p:sp>
      <p:sp>
        <p:nvSpPr>
          <p:cNvPr id="9" name="Text 7"/>
          <p:cNvSpPr/>
          <p:nvPr/>
        </p:nvSpPr>
        <p:spPr>
          <a:xfrm>
            <a:off x="4610894" y="4312921"/>
            <a:ext cx="305923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A39A96"/>
                </a:solidFill>
                <a:latin typeface="Bricolage Grotesque" pitchFamily="34" charset="0"/>
                <a:ea typeface="Bricolage Grotesque" pitchFamily="34" charset="-122"/>
                <a:cs typeface="Bricolage Grotesque" pitchFamily="34" charset="-120"/>
              </a:rPr>
              <a:t>and launches</a:t>
            </a:r>
            <a:endParaRPr lang="en-US" sz="1300" dirty="0"/>
          </a:p>
        </p:txBody>
      </p:sp>
      <p:sp>
        <p:nvSpPr>
          <p:cNvPr id="10" name="Shape 8"/>
          <p:cNvSpPr/>
          <p:nvPr/>
        </p:nvSpPr>
        <p:spPr>
          <a:xfrm>
            <a:off x="7944882" y="3734436"/>
            <a:ext cx="3431143" cy="985520"/>
          </a:xfrm>
          <a:prstGeom prst="rect">
            <a:avLst/>
          </a:prstGeom>
          <a:solidFill>
            <a:srgbClr val="1A1414"/>
          </a:solidFill>
          <a:ln w="6350">
            <a:solidFill>
              <a:srgbClr val="3A2A2A"/>
            </a:solidFill>
            <a:prstDash val="solid"/>
          </a:ln>
        </p:spPr>
      </p:sp>
      <p:sp>
        <p:nvSpPr>
          <p:cNvPr id="11" name="Text 9"/>
          <p:cNvSpPr/>
          <p:nvPr/>
        </p:nvSpPr>
        <p:spPr>
          <a:xfrm>
            <a:off x="8175387" y="3926839"/>
            <a:ext cx="305923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1EFE9"/>
                </a:solidFill>
                <a:latin typeface="Bricolage Grotesque" pitchFamily="34" charset="0"/>
                <a:ea typeface="Bricolage Grotesque" pitchFamily="34" charset="-122"/>
                <a:cs typeface="Bricolage Grotesque" pitchFamily="34" charset="-120"/>
              </a:rPr>
              <a:t>Agents</a:t>
            </a:r>
            <a:endParaRPr lang="en-US" sz="2400" dirty="0"/>
          </a:p>
        </p:txBody>
      </p:sp>
      <p:sp>
        <p:nvSpPr>
          <p:cNvPr id="12" name="Text 10"/>
          <p:cNvSpPr/>
          <p:nvPr/>
        </p:nvSpPr>
        <p:spPr>
          <a:xfrm>
            <a:off x="8175387" y="4312921"/>
            <a:ext cx="305923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A39A96"/>
                </a:solidFill>
                <a:latin typeface="Bricolage Grotesque" pitchFamily="34" charset="0"/>
                <a:ea typeface="Bricolage Grotesque" pitchFamily="34" charset="-122"/>
                <a:cs typeface="Bricolage Grotesque" pitchFamily="34" charset="-120"/>
              </a:rPr>
              <a:t>and developer tools</a:t>
            </a:r>
            <a:endParaRPr lang="en-US" sz="1300" dirty="0"/>
          </a:p>
        </p:txBody>
      </p:sp>
      <p:sp>
        <p:nvSpPr>
          <p:cNvPr id="13" name="Shape 11"/>
          <p:cNvSpPr/>
          <p:nvPr/>
        </p:nvSpPr>
        <p:spPr>
          <a:xfrm>
            <a:off x="815975" y="4853307"/>
            <a:ext cx="3431064" cy="985520"/>
          </a:xfrm>
          <a:prstGeom prst="rect">
            <a:avLst/>
          </a:prstGeom>
          <a:solidFill>
            <a:srgbClr val="1A1414"/>
          </a:solidFill>
          <a:ln w="6350">
            <a:solidFill>
              <a:srgbClr val="3A2A2A"/>
            </a:solidFill>
            <a:prstDash val="solid"/>
          </a:ln>
        </p:spPr>
      </p:sp>
      <p:sp>
        <p:nvSpPr>
          <p:cNvPr id="14" name="Text 12"/>
          <p:cNvSpPr/>
          <p:nvPr/>
        </p:nvSpPr>
        <p:spPr>
          <a:xfrm>
            <a:off x="1046480" y="5045711"/>
            <a:ext cx="3059155"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1EFE9"/>
                </a:solidFill>
                <a:latin typeface="Bricolage Grotesque" pitchFamily="34" charset="0"/>
                <a:ea typeface="Bricolage Grotesque" pitchFamily="34" charset="-122"/>
                <a:cs typeface="Bricolage Grotesque" pitchFamily="34" charset="-120"/>
              </a:rPr>
              <a:t>Deals</a:t>
            </a:r>
            <a:endParaRPr lang="en-US" sz="2400" dirty="0"/>
          </a:p>
        </p:txBody>
      </p:sp>
      <p:sp>
        <p:nvSpPr>
          <p:cNvPr id="15" name="Text 13"/>
          <p:cNvSpPr/>
          <p:nvPr/>
        </p:nvSpPr>
        <p:spPr>
          <a:xfrm>
            <a:off x="1046480" y="5431789"/>
            <a:ext cx="3059155"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A39A96"/>
                </a:solidFill>
                <a:latin typeface="Bricolage Grotesque" pitchFamily="34" charset="0"/>
                <a:ea typeface="Bricolage Grotesque" pitchFamily="34" charset="-122"/>
                <a:cs typeface="Bricolage Grotesque" pitchFamily="34" charset="-120"/>
              </a:rPr>
              <a:t>and investment</a:t>
            </a:r>
            <a:endParaRPr lang="en-US" sz="1300" dirty="0"/>
          </a:p>
        </p:txBody>
      </p:sp>
      <p:sp>
        <p:nvSpPr>
          <p:cNvPr id="16" name="Shape 14"/>
          <p:cNvSpPr/>
          <p:nvPr/>
        </p:nvSpPr>
        <p:spPr>
          <a:xfrm>
            <a:off x="4380389" y="4853307"/>
            <a:ext cx="3431143" cy="985520"/>
          </a:xfrm>
          <a:prstGeom prst="rect">
            <a:avLst/>
          </a:prstGeom>
          <a:solidFill>
            <a:srgbClr val="1A1414"/>
          </a:solidFill>
          <a:ln w="6350">
            <a:solidFill>
              <a:srgbClr val="3A2A2A"/>
            </a:solidFill>
            <a:prstDash val="solid"/>
          </a:ln>
        </p:spPr>
      </p:sp>
      <p:sp>
        <p:nvSpPr>
          <p:cNvPr id="17" name="Text 15"/>
          <p:cNvSpPr/>
          <p:nvPr/>
        </p:nvSpPr>
        <p:spPr>
          <a:xfrm>
            <a:off x="4610894" y="5045711"/>
            <a:ext cx="305923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1EFE9"/>
                </a:solidFill>
                <a:latin typeface="Bricolage Grotesque" pitchFamily="34" charset="0"/>
                <a:ea typeface="Bricolage Grotesque" pitchFamily="34" charset="-122"/>
                <a:cs typeface="Bricolage Grotesque" pitchFamily="34" charset="-120"/>
              </a:rPr>
              <a:t>Policy</a:t>
            </a:r>
            <a:endParaRPr lang="en-US" sz="2400" dirty="0"/>
          </a:p>
        </p:txBody>
      </p:sp>
      <p:sp>
        <p:nvSpPr>
          <p:cNvPr id="18" name="Text 16"/>
          <p:cNvSpPr/>
          <p:nvPr/>
        </p:nvSpPr>
        <p:spPr>
          <a:xfrm>
            <a:off x="4610894" y="5431789"/>
            <a:ext cx="305923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A39A96"/>
                </a:solidFill>
                <a:latin typeface="Bricolage Grotesque" pitchFamily="34" charset="0"/>
                <a:ea typeface="Bricolage Grotesque" pitchFamily="34" charset="-122"/>
                <a:cs typeface="Bricolage Grotesque" pitchFamily="34" charset="-120"/>
              </a:rPr>
              <a:t>and safety</a:t>
            </a:r>
            <a:endParaRPr lang="en-US" sz="1300" dirty="0"/>
          </a:p>
        </p:txBody>
      </p:sp>
      <p:sp>
        <p:nvSpPr>
          <p:cNvPr id="19" name="Shape 17"/>
          <p:cNvSpPr/>
          <p:nvPr/>
        </p:nvSpPr>
        <p:spPr>
          <a:xfrm>
            <a:off x="7944882" y="4853307"/>
            <a:ext cx="3431143" cy="985520"/>
          </a:xfrm>
          <a:prstGeom prst="rect">
            <a:avLst/>
          </a:prstGeom>
          <a:solidFill>
            <a:srgbClr val="1A1414"/>
          </a:solidFill>
          <a:ln w="6350">
            <a:solidFill>
              <a:srgbClr val="3A2A2A"/>
            </a:solidFill>
            <a:prstDash val="solid"/>
          </a:ln>
        </p:spPr>
      </p:sp>
      <p:sp>
        <p:nvSpPr>
          <p:cNvPr id="20" name="Text 18"/>
          <p:cNvSpPr/>
          <p:nvPr/>
        </p:nvSpPr>
        <p:spPr>
          <a:xfrm>
            <a:off x="8175387" y="5045711"/>
            <a:ext cx="3059237" cy="36068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1EFE9"/>
                </a:solidFill>
                <a:latin typeface="Bricolage Grotesque" pitchFamily="34" charset="0"/>
                <a:ea typeface="Bricolage Grotesque" pitchFamily="34" charset="-122"/>
                <a:cs typeface="Bricolage Grotesque" pitchFamily="34" charset="-120"/>
              </a:rPr>
              <a:t>Real use</a:t>
            </a:r>
            <a:endParaRPr lang="en-US" sz="2400" dirty="0"/>
          </a:p>
        </p:txBody>
      </p:sp>
      <p:sp>
        <p:nvSpPr>
          <p:cNvPr id="21" name="Text 19"/>
          <p:cNvSpPr/>
          <p:nvPr/>
        </p:nvSpPr>
        <p:spPr>
          <a:xfrm>
            <a:off x="8175387" y="5431789"/>
            <a:ext cx="305923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A39A96"/>
                </a:solidFill>
                <a:latin typeface="Bricolage Grotesque" pitchFamily="34" charset="0"/>
                <a:ea typeface="Bricolage Grotesque" pitchFamily="34" charset="-122"/>
                <a:cs typeface="Bricolage Grotesque" pitchFamily="34" charset="-120"/>
              </a:rPr>
              <a:t>in the world</a:t>
            </a:r>
            <a:endParaRPr lang="en-US" sz="1300" dirty="0"/>
          </a:p>
        </p:txBody>
      </p:sp>
      <p:pic>
        <p:nvPicPr>
          <p:cNvPr id="22" name="Image 0" descr="AIdea pulse mark">    </p:cNvPr>
          <p:cNvPicPr>
            <a:picLocks noChangeAspect="1"/>
          </p:cNvPicPr>
          <p:nvPr/>
        </p:nvPicPr>
        <p:blipFill>
          <a:blip r:embed="rId1"/>
          <a:srcRect l="0" r="0" t="0" b="0"/>
          <a:stretch/>
        </p:blipFill>
        <p:spPr>
          <a:xfrm>
            <a:off x="812800" y="6248400"/>
            <a:ext cx="457200" cy="254000"/>
          </a:xfrm>
          <a:prstGeom prst="rect">
            <a:avLst/>
          </a:prstGeom>
        </p:spPr>
      </p:pic>
      <p:sp>
        <p:nvSpPr>
          <p:cNvPr id="23" name="Text 20"/>
          <p:cNvSpPr/>
          <p:nvPr/>
        </p:nvSpPr>
        <p:spPr>
          <a:xfrm>
            <a:off x="13716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39A96"/>
                </a:solidFill>
                <a:latin typeface="IBM Plex Mono" pitchFamily="49" charset="0"/>
                <a:ea typeface="IBM Plex Mono" pitchFamily="49" charset="-122"/>
                <a:cs typeface="IBM Plex Mono" pitchFamily="49" charset="-120"/>
              </a:rPr>
              <a:t>AIDEA · six kinds of story, moving every day</a:t>
            </a:r>
            <a:endParaRPr lang="en-US" sz="1200" dirty="0"/>
          </a:p>
        </p:txBody>
      </p:sp>
      <p:sp>
        <p:nvSpPr>
          <p:cNvPr id="24" name="Text 2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326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0E0B0B"/>
                </a:solidFill>
                <a:latin typeface="IBM Plex Mono" pitchFamily="49" charset="0"/>
                <a:ea typeface="IBM Plex Mono" pitchFamily="49" charset="-122"/>
                <a:cs typeface="IBM Plex Mono" pitchFamily="49" charset="-120"/>
              </a:rPr>
              <a:t>THE INSIGHT</a:t>
            </a:r>
            <a:endParaRPr lang="en-US" sz="1200" dirty="0"/>
          </a:p>
        </p:txBody>
      </p:sp>
      <p:sp>
        <p:nvSpPr>
          <p:cNvPr id="3" name="Text 1"/>
          <p:cNvSpPr/>
          <p:nvPr>
            <p:ph type="title"/>
          </p:nvPr>
        </p:nvSpPr>
        <p:spPr>
          <a:xfrm>
            <a:off x="812800" y="1381761"/>
            <a:ext cx="10464800" cy="2341880"/>
          </a:xfrm>
          <a:prstGeom prst="rect">
            <a:avLst/>
          </a:prstGeom>
          <a:noFill/>
          <a:ln/>
        </p:spPr>
        <p:txBody>
          <a:bodyPr wrap="square" lIns="0" tIns="0" rIns="0" bIns="0" rtlCol="0" anchor="t">
            <a:normAutofit/>
          </a:bodyPr>
          <a:lstStyle/>
          <a:p>
            <a:pPr algn="l" indent="0" marL="0">
              <a:lnSpc>
                <a:spcPts val="9120"/>
              </a:lnSpc>
              <a:buNone/>
            </a:pPr>
            <a:r>
              <a:rPr lang="en-US" sz="9500" b="1" i="0" spc="-350" kern="0" dirty="0">
                <a:solidFill>
                  <a:srgbClr val="0E0B0B"/>
                </a:solidFill>
                <a:latin typeface="Bricolage Grotesque" pitchFamily="34" charset="0"/>
                <a:ea typeface="Bricolage Grotesque" pitchFamily="34" charset="-122"/>
                <a:cs typeface="Bricolage Grotesque" pitchFamily="34" charset="-120"/>
              </a:rPr>
              <a:t>Access is solved. Attention isn’t.</a:t>
            </a:r>
            <a:endParaRPr lang="en-US" sz="9500" dirty="0"/>
          </a:p>
        </p:txBody>
      </p:sp>
      <p:sp>
        <p:nvSpPr>
          <p:cNvPr id="4" name="Text 2"/>
          <p:cNvSpPr/>
          <p:nvPr/>
        </p:nvSpPr>
        <p:spPr>
          <a:xfrm>
            <a:off x="812800" y="5492750"/>
            <a:ext cx="9156700"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0E0B0B"/>
                </a:solidFill>
                <a:latin typeface="Bricolage Grotesque" pitchFamily="34" charset="0"/>
                <a:ea typeface="Bricolage Grotesque" pitchFamily="34" charset="-122"/>
                <a:cs typeface="Bricolage Grotesque" pitchFamily="34" charset="-120"/>
              </a:rPr>
              <a:t>So we built a better way to find what matters.</a:t>
            </a:r>
            <a:endParaRPr lang="en-US" sz="2200" dirty="0"/>
          </a:p>
        </p:txBody>
      </p:sp>
      <p:pic>
        <p:nvPicPr>
          <p:cNvPr id="5" name="Image 0" descr="AIdea pulse mark">    </p:cNvPr>
          <p:cNvPicPr>
            <a:picLocks noChangeAspect="1"/>
          </p:cNvPicPr>
          <p:nvPr/>
        </p:nvPicPr>
        <p:blipFill>
          <a:blip r:embed="rId1"/>
          <a:srcRect l="0" r="0" t="0" b="0"/>
          <a:stretch/>
        </p:blipFill>
        <p:spPr>
          <a:xfrm>
            <a:off x="812800" y="6248400"/>
            <a:ext cx="457200" cy="254000"/>
          </a:xfrm>
          <a:prstGeom prst="rect">
            <a:avLst/>
          </a:prstGeom>
        </p:spPr>
      </p:pic>
      <p:sp>
        <p:nvSpPr>
          <p:cNvPr id="6" name="Text 3"/>
          <p:cNvSpPr/>
          <p:nvPr/>
        </p:nvSpPr>
        <p:spPr>
          <a:xfrm>
            <a:off x="1371600" y="6238239"/>
            <a:ext cx="2616200"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0E0B0B"/>
                </a:solidFill>
                <a:latin typeface="IBM Plex Mono" pitchFamily="49" charset="0"/>
                <a:ea typeface="IBM Plex Mono" pitchFamily="49" charset="-122"/>
                <a:cs typeface="IBM Plex Mono" pitchFamily="49" charset="-120"/>
              </a:rPr>
              <a:t>AIDEA</a:t>
            </a:r>
            <a:endParaRPr lang="en-US" sz="1200" dirty="0"/>
          </a:p>
        </p:txBody>
      </p:sp>
      <p:sp>
        <p:nvSpPr>
          <p:cNvPr id="7" name="Text 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E0B0B"/>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B0B"/>
        </a:solidFill>
      </p:bgPr>
    </p:bg>
    <p:spTree>
      <p:nvGrpSpPr>
        <p:cNvPr id="1" name=""/>
        <p:cNvGrpSpPr/>
        <p:nvPr/>
      </p:nvGrpSpPr>
      <p:grpSpPr>
        <a:xfrm>
          <a:off x="0" y="0"/>
          <a:ext cx="0" cy="0"/>
          <a:chOff x="0" y="0"/>
          <a:chExt cx="0" cy="0"/>
        </a:xfrm>
      </p:grpSpPr>
      <p:pic>
        <p:nvPicPr>
          <p:cNvPr id="2" name="Image 0" descr="AIdea logo: a red heartbeat line that spells A and I, followed by the letters d, e, a in white">    </p:cNvPr>
          <p:cNvPicPr>
            <a:picLocks noChangeAspect="1"/>
          </p:cNvPicPr>
          <p:nvPr/>
        </p:nvPicPr>
        <p:blipFill>
          <a:blip r:embed="rId1"/>
          <a:srcRect l="0" r="0" t="0" b="0"/>
          <a:stretch/>
        </p:blipFill>
        <p:spPr>
          <a:xfrm>
            <a:off x="406400" y="952500"/>
            <a:ext cx="4953000" cy="4953000"/>
          </a:xfrm>
          <a:prstGeom prst="rect">
            <a:avLst/>
          </a:prstGeom>
        </p:spPr>
      </p:pic>
      <p:sp>
        <p:nvSpPr>
          <p:cNvPr id="3" name="Text 0"/>
          <p:cNvSpPr/>
          <p:nvPr/>
        </p:nvSpPr>
        <p:spPr>
          <a:xfrm>
            <a:off x="6299200" y="1996362"/>
            <a:ext cx="5232400"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FF2B33"/>
                </a:solidFill>
                <a:latin typeface="IBM Plex Mono" pitchFamily="49" charset="0"/>
                <a:ea typeface="IBM Plex Mono" pitchFamily="49" charset="-122"/>
                <a:cs typeface="IBM Plex Mono" pitchFamily="49" charset="-120"/>
              </a:rPr>
              <a:t>MEET AIDEA</a:t>
            </a:r>
            <a:endParaRPr lang="en-US" sz="1200" dirty="0"/>
          </a:p>
        </p:txBody>
      </p:sp>
      <p:sp>
        <p:nvSpPr>
          <p:cNvPr id="4" name="Text 1"/>
          <p:cNvSpPr/>
          <p:nvPr>
            <p:ph type="title"/>
          </p:nvPr>
        </p:nvSpPr>
        <p:spPr>
          <a:xfrm>
            <a:off x="6299200" y="2438322"/>
            <a:ext cx="5232400" cy="1568609"/>
          </a:xfrm>
          <a:prstGeom prst="rect">
            <a:avLst/>
          </a:prstGeom>
          <a:noFill/>
          <a:ln/>
        </p:spPr>
        <p:txBody>
          <a:bodyPr wrap="square" lIns="0" tIns="0" rIns="0" bIns="0" rtlCol="0" anchor="t">
            <a:normAutofit/>
          </a:bodyPr>
          <a:lstStyle/>
          <a:p>
            <a:pPr algn="l" indent="0" marL="0">
              <a:lnSpc>
                <a:spcPts val="6076"/>
              </a:lnSpc>
              <a:buNone/>
            </a:pPr>
            <a:r>
              <a:rPr lang="en-US" sz="6200" b="1" i="0" spc="-200" kern="0" dirty="0">
                <a:solidFill>
                  <a:srgbClr val="F1EFE9"/>
                </a:solidFill>
                <a:latin typeface="Bricolage Grotesque" pitchFamily="34" charset="0"/>
                <a:ea typeface="Bricolage Grotesque" pitchFamily="34" charset="-122"/>
                <a:cs typeface="Bricolage Grotesque" pitchFamily="34" charset="-120"/>
              </a:rPr>
              <a:t>AI news. Fresh perspectives.</a:t>
            </a:r>
            <a:endParaRPr lang="en-US" sz="6200" dirty="0"/>
          </a:p>
        </p:txBody>
      </p:sp>
      <p:sp>
        <p:nvSpPr>
          <p:cNvPr id="5" name="Text 2"/>
          <p:cNvSpPr/>
          <p:nvPr/>
        </p:nvSpPr>
        <p:spPr>
          <a:xfrm>
            <a:off x="6299200" y="4210131"/>
            <a:ext cx="5232400" cy="676910"/>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A39A96"/>
                </a:solidFill>
                <a:latin typeface="Bricolage Grotesque" pitchFamily="34" charset="0"/>
                <a:ea typeface="Bricolage Grotesque" pitchFamily="34" charset="-122"/>
                <a:cs typeface="Bricolage Grotesque" pitchFamily="34" charset="-120"/>
              </a:rPr>
              <a:t>The day’s AI news. Found, filtered and read to you.</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FF2B33"/>
                </a:solidFill>
                <a:latin typeface="IBM Plex Mono" pitchFamily="49" charset="0"/>
                <a:ea typeface="IBM Plex Mono" pitchFamily="49" charset="-122"/>
                <a:cs typeface="IBM Plex Mono" pitchFamily="49" charset="-120"/>
              </a:rPr>
              <a:t>THE EXPERIENCE</a:t>
            </a:r>
            <a:endParaRPr lang="en-US" sz="1200" dirty="0"/>
          </a:p>
        </p:txBody>
      </p:sp>
      <p:sp>
        <p:nvSpPr>
          <p:cNvPr id="3" name="Text 1"/>
          <p:cNvSpPr/>
          <p:nvPr>
            <p:ph type="title"/>
          </p:nvPr>
        </p:nvSpPr>
        <p:spPr>
          <a:xfrm>
            <a:off x="812800" y="1330964"/>
            <a:ext cx="10203180" cy="736600"/>
          </a:xfrm>
          <a:prstGeom prst="rect">
            <a:avLst/>
          </a:prstGeom>
          <a:noFill/>
          <a:ln/>
        </p:spPr>
        <p:txBody>
          <a:bodyPr wrap="square" lIns="0" tIns="0" rIns="0" bIns="0" rtlCol="0" anchor="t">
            <a:normAutofit/>
          </a:bodyPr>
          <a:lstStyle/>
          <a:p>
            <a:pPr algn="l" indent="0" marL="0">
              <a:lnSpc>
                <a:spcPts val="5600"/>
              </a:lnSpc>
              <a:buNone/>
            </a:pPr>
            <a:r>
              <a:rPr lang="en-US" sz="5600" b="1" i="0" spc="-150" kern="0" dirty="0">
                <a:solidFill>
                  <a:srgbClr val="F1EFE9"/>
                </a:solidFill>
                <a:latin typeface="Bricolage Grotesque" pitchFamily="34" charset="0"/>
                <a:ea typeface="Bricolage Grotesque" pitchFamily="34" charset="-122"/>
                <a:cs typeface="Bricolage Grotesque" pitchFamily="34" charset="-120"/>
              </a:rPr>
              <a:t>Hear it. Read it. Check it.</a:t>
            </a:r>
            <a:endParaRPr lang="en-US" sz="5600" dirty="0"/>
          </a:p>
        </p:txBody>
      </p:sp>
      <p:sp>
        <p:nvSpPr>
          <p:cNvPr id="4" name="Shape 2"/>
          <p:cNvSpPr/>
          <p:nvPr/>
        </p:nvSpPr>
        <p:spPr>
          <a:xfrm>
            <a:off x="812800" y="2346964"/>
            <a:ext cx="5897404" cy="2306320"/>
          </a:xfrm>
          <a:prstGeom prst="rect">
            <a:avLst/>
          </a:prstGeom>
          <a:solidFill>
            <a:srgbClr val="F1EFE9"/>
          </a:solidFill>
          <a:ln/>
        </p:spPr>
      </p:sp>
      <p:sp>
        <p:nvSpPr>
          <p:cNvPr id="5" name="Text 3"/>
          <p:cNvSpPr/>
          <p:nvPr/>
        </p:nvSpPr>
        <p:spPr>
          <a:xfrm>
            <a:off x="1066800" y="2575564"/>
            <a:ext cx="555108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3121A"/>
                </a:solidFill>
                <a:latin typeface="IBM Plex Mono" pitchFamily="49" charset="0"/>
                <a:ea typeface="IBM Plex Mono" pitchFamily="49" charset="-122"/>
                <a:cs typeface="IBM Plex Mono" pitchFamily="49" charset="-120"/>
              </a:rPr>
              <a:t>FROM A REAL EDITION</a:t>
            </a:r>
            <a:endParaRPr lang="en-US" sz="1200" dirty="0"/>
          </a:p>
        </p:txBody>
      </p:sp>
      <p:sp>
        <p:nvSpPr>
          <p:cNvPr id="6" name="Text 4"/>
          <p:cNvSpPr/>
          <p:nvPr/>
        </p:nvSpPr>
        <p:spPr>
          <a:xfrm>
            <a:off x="1066800" y="2903221"/>
            <a:ext cx="5551086" cy="565150"/>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E0B0B"/>
                </a:solidFill>
                <a:latin typeface="Bricolage Grotesque" pitchFamily="34" charset="0"/>
                <a:ea typeface="Bricolage Grotesque" pitchFamily="34" charset="-122"/>
                <a:cs typeface="Bricolage Grotesque" pitchFamily="34" charset="-120"/>
              </a:rPr>
              <a:t>Odyssey has opened a free public research preview of its interactive world model, Odyssey-3.</a:t>
            </a:r>
            <a:endParaRPr lang="en-US" sz="1700" dirty="0"/>
          </a:p>
        </p:txBody>
      </p:sp>
      <p:sp>
        <p:nvSpPr>
          <p:cNvPr id="7" name="Text 5"/>
          <p:cNvSpPr/>
          <p:nvPr/>
        </p:nvSpPr>
        <p:spPr>
          <a:xfrm>
            <a:off x="1066800" y="3557271"/>
            <a:ext cx="5551086" cy="565150"/>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0E0B0B"/>
                </a:solidFill>
                <a:latin typeface="Bricolage Grotesque" pitchFamily="34" charset="0"/>
                <a:ea typeface="Bricolage Grotesque" pitchFamily="34" charset="-122"/>
                <a:cs typeface="Bricolage Grotesque" pitchFamily="34" charset="-120"/>
              </a:rPr>
              <a:t>ArXiv will limit each person to two submissions per calendar month, citing a surge in AI-driven papers.</a:t>
            </a:r>
            <a:endParaRPr lang="en-US" sz="1700" dirty="0"/>
          </a:p>
        </p:txBody>
      </p:sp>
      <p:sp>
        <p:nvSpPr>
          <p:cNvPr id="8" name="Text 6"/>
          <p:cNvSpPr/>
          <p:nvPr/>
        </p:nvSpPr>
        <p:spPr>
          <a:xfrm>
            <a:off x="1066800" y="4211321"/>
            <a:ext cx="55510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3232"/>
                </a:solidFill>
                <a:latin typeface="IBM Plex Mono" pitchFamily="49" charset="0"/>
                <a:ea typeface="IBM Plex Mono" pitchFamily="49" charset="-122"/>
                <a:cs typeface="IBM Plex Mono" pitchFamily="49" charset="-120"/>
              </a:rPr>
              <a:t>Reported · sources linked</a:t>
            </a:r>
            <a:endParaRPr lang="en-US" sz="1200" dirty="0"/>
          </a:p>
        </p:txBody>
      </p:sp>
      <p:sp>
        <p:nvSpPr>
          <p:cNvPr id="9" name="Shape 7"/>
          <p:cNvSpPr/>
          <p:nvPr/>
        </p:nvSpPr>
        <p:spPr>
          <a:xfrm>
            <a:off x="6894354" y="2353314"/>
            <a:ext cx="4478496" cy="1183640"/>
          </a:xfrm>
          <a:prstGeom prst="rect">
            <a:avLst/>
          </a:prstGeom>
          <a:noFill/>
          <a:ln w="12700">
            <a:solidFill>
              <a:srgbClr val="FF2B33"/>
            </a:solidFill>
            <a:prstDash val="dash"/>
          </a:ln>
        </p:spPr>
      </p:sp>
      <p:pic>
        <p:nvPicPr>
          <p:cNvPr id="10" name="Image 0" descr="Play">    </p:cNvPr>
          <p:cNvPicPr>
            <a:picLocks noChangeAspect="1"/>
          </p:cNvPicPr>
          <p:nvPr/>
        </p:nvPicPr>
        <p:blipFill>
          <a:blip r:embed="rId1"/>
          <a:srcRect l="0" r="0" t="0" b="0"/>
          <a:stretch/>
        </p:blipFill>
        <p:spPr>
          <a:xfrm>
            <a:off x="8930402" y="2580004"/>
            <a:ext cx="406400" cy="406400"/>
          </a:xfrm>
          <a:prstGeom prst="rect">
            <a:avLst/>
          </a:prstGeom>
        </p:spPr>
      </p:pic>
      <p:sp>
        <p:nvSpPr>
          <p:cNvPr id="11" name="Text 8"/>
          <p:cNvSpPr/>
          <p:nvPr/>
        </p:nvSpPr>
        <p:spPr>
          <a:xfrm>
            <a:off x="7266988" y="3062604"/>
            <a:ext cx="3733229" cy="273050"/>
          </a:xfrm>
          <a:prstGeom prst="rect">
            <a:avLst/>
          </a:prstGeom>
          <a:noFill/>
          <a:ln/>
        </p:spPr>
        <p:txBody>
          <a:bodyPr wrap="square" lIns="0" tIns="0" rIns="0" bIns="0" rtlCol="0" anchor="t">
            <a:normAutofit/>
          </a:bodyPr>
          <a:lstStyle/>
          <a:p>
            <a:pPr algn="ctr" indent="0" marL="0">
              <a:lnSpc>
                <a:spcPts val="1950"/>
              </a:lnSpc>
              <a:buNone/>
            </a:pPr>
            <a:r>
              <a:rPr lang="en-US" sz="1500" b="1" dirty="0">
                <a:solidFill>
                  <a:srgbClr val="F1EFE9"/>
                </a:solidFill>
                <a:latin typeface="Bricolage Grotesque" pitchFamily="34" charset="0"/>
                <a:ea typeface="Bricolage Grotesque" pitchFamily="34" charset="-122"/>
                <a:cs typeface="Bricolage Grotesque" pitchFamily="34" charset="-120"/>
              </a:rPr>
              <a:t>[Play 20 seconds of a real episode]</a:t>
            </a:r>
            <a:endParaRPr lang="en-US" sz="1500" dirty="0"/>
          </a:p>
        </p:txBody>
      </p:sp>
      <p:sp>
        <p:nvSpPr>
          <p:cNvPr id="12" name="Shape 9"/>
          <p:cNvSpPr/>
          <p:nvPr/>
        </p:nvSpPr>
        <p:spPr>
          <a:xfrm>
            <a:off x="6891179" y="3673475"/>
            <a:ext cx="1406049" cy="976630"/>
          </a:xfrm>
          <a:prstGeom prst="rect">
            <a:avLst/>
          </a:prstGeom>
          <a:solidFill>
            <a:srgbClr val="1A1414"/>
          </a:solidFill>
          <a:ln w="6350">
            <a:solidFill>
              <a:srgbClr val="3A2A2A"/>
            </a:solidFill>
            <a:prstDash val="solid"/>
          </a:ln>
        </p:spPr>
      </p:sp>
      <p:sp>
        <p:nvSpPr>
          <p:cNvPr id="13" name="Text 10"/>
          <p:cNvSpPr/>
          <p:nvPr/>
        </p:nvSpPr>
        <p:spPr>
          <a:xfrm>
            <a:off x="7058184" y="3815079"/>
            <a:ext cx="1122839" cy="508000"/>
          </a:xfrm>
          <a:prstGeom prst="rect">
            <a:avLst/>
          </a:prstGeom>
          <a:noFill/>
          <a:ln/>
        </p:spPr>
        <p:txBody>
          <a:bodyPr wrap="square" lIns="0" tIns="0" rIns="0" bIns="0" rtlCol="0" anchor="t">
            <a:normAutofit/>
          </a:bodyPr>
          <a:lstStyle/>
          <a:p>
            <a:pPr algn="l" indent="0" marL="0">
              <a:lnSpc>
                <a:spcPts val="3800"/>
              </a:lnSpc>
              <a:buNone/>
            </a:pPr>
            <a:r>
              <a:rPr lang="en-US" sz="3800" b="1" spc="-100" kern="0" dirty="0">
                <a:solidFill>
                  <a:srgbClr val="F1EFE9"/>
                </a:solidFill>
                <a:latin typeface="Bricolage Grotesque" pitchFamily="34" charset="0"/>
                <a:ea typeface="Bricolage Grotesque" pitchFamily="34" charset="-122"/>
                <a:cs typeface="Bricolage Grotesque" pitchFamily="34" charset="-120"/>
              </a:rPr>
              <a:t>5</a:t>
            </a:r>
            <a:endParaRPr lang="en-US" sz="3800" dirty="0"/>
          </a:p>
        </p:txBody>
      </p:sp>
      <p:sp>
        <p:nvSpPr>
          <p:cNvPr id="14" name="Text 11"/>
          <p:cNvSpPr/>
          <p:nvPr/>
        </p:nvSpPr>
        <p:spPr>
          <a:xfrm>
            <a:off x="7058184" y="4310379"/>
            <a:ext cx="112283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9A96"/>
                </a:solidFill>
                <a:latin typeface="Bricolage Grotesque" pitchFamily="34" charset="0"/>
                <a:ea typeface="Bricolage Grotesque" pitchFamily="34" charset="-122"/>
                <a:cs typeface="Bricolage Grotesque" pitchFamily="34" charset="-120"/>
              </a:rPr>
              <a:t>editions</a:t>
            </a:r>
            <a:endParaRPr lang="en-US" sz="1200" dirty="0"/>
          </a:p>
        </p:txBody>
      </p:sp>
      <p:sp>
        <p:nvSpPr>
          <p:cNvPr id="15" name="Shape 12"/>
          <p:cNvSpPr/>
          <p:nvPr/>
        </p:nvSpPr>
        <p:spPr>
          <a:xfrm>
            <a:off x="8430578" y="3673475"/>
            <a:ext cx="1406049" cy="976630"/>
          </a:xfrm>
          <a:prstGeom prst="rect">
            <a:avLst/>
          </a:prstGeom>
          <a:solidFill>
            <a:srgbClr val="1A1414"/>
          </a:solidFill>
          <a:ln w="6350">
            <a:solidFill>
              <a:srgbClr val="3A2A2A"/>
            </a:solidFill>
            <a:prstDash val="solid"/>
          </a:ln>
        </p:spPr>
      </p:sp>
      <p:sp>
        <p:nvSpPr>
          <p:cNvPr id="16" name="Text 13"/>
          <p:cNvSpPr/>
          <p:nvPr/>
        </p:nvSpPr>
        <p:spPr>
          <a:xfrm>
            <a:off x="8597583" y="3815079"/>
            <a:ext cx="1122839" cy="508000"/>
          </a:xfrm>
          <a:prstGeom prst="rect">
            <a:avLst/>
          </a:prstGeom>
          <a:noFill/>
          <a:ln/>
        </p:spPr>
        <p:txBody>
          <a:bodyPr wrap="square" lIns="0" tIns="0" rIns="0" bIns="0" rtlCol="0" anchor="t">
            <a:normAutofit/>
          </a:bodyPr>
          <a:lstStyle/>
          <a:p>
            <a:pPr algn="l" indent="0" marL="0">
              <a:lnSpc>
                <a:spcPts val="3800"/>
              </a:lnSpc>
              <a:buNone/>
            </a:pPr>
            <a:r>
              <a:rPr lang="en-US" sz="3800" b="1" spc="-100" kern="0" dirty="0">
                <a:solidFill>
                  <a:srgbClr val="F1EFE9"/>
                </a:solidFill>
                <a:latin typeface="Bricolage Grotesque" pitchFamily="34" charset="0"/>
                <a:ea typeface="Bricolage Grotesque" pitchFamily="34" charset="-122"/>
                <a:cs typeface="Bricolage Grotesque" pitchFamily="34" charset="-120"/>
              </a:rPr>
              <a:t>73</a:t>
            </a:r>
            <a:endParaRPr lang="en-US" sz="3800" dirty="0"/>
          </a:p>
        </p:txBody>
      </p:sp>
      <p:sp>
        <p:nvSpPr>
          <p:cNvPr id="17" name="Text 14"/>
          <p:cNvSpPr/>
          <p:nvPr/>
        </p:nvSpPr>
        <p:spPr>
          <a:xfrm>
            <a:off x="8597583" y="4310379"/>
            <a:ext cx="112283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9A96"/>
                </a:solidFill>
                <a:latin typeface="Bricolage Grotesque" pitchFamily="34" charset="0"/>
                <a:ea typeface="Bricolage Grotesque" pitchFamily="34" charset="-122"/>
                <a:cs typeface="Bricolage Grotesque" pitchFamily="34" charset="-120"/>
              </a:rPr>
              <a:t>stories</a:t>
            </a:r>
            <a:endParaRPr lang="en-US" sz="1200" dirty="0"/>
          </a:p>
        </p:txBody>
      </p:sp>
      <p:sp>
        <p:nvSpPr>
          <p:cNvPr id="18" name="Shape 15"/>
          <p:cNvSpPr/>
          <p:nvPr/>
        </p:nvSpPr>
        <p:spPr>
          <a:xfrm>
            <a:off x="9969977" y="3673475"/>
            <a:ext cx="1406049" cy="976630"/>
          </a:xfrm>
          <a:prstGeom prst="rect">
            <a:avLst/>
          </a:prstGeom>
          <a:solidFill>
            <a:srgbClr val="1A1414"/>
          </a:solidFill>
          <a:ln w="6350">
            <a:solidFill>
              <a:srgbClr val="FF2B33"/>
            </a:solidFill>
            <a:prstDash val="solid"/>
          </a:ln>
        </p:spPr>
      </p:sp>
      <p:sp>
        <p:nvSpPr>
          <p:cNvPr id="19" name="Text 16"/>
          <p:cNvSpPr/>
          <p:nvPr/>
        </p:nvSpPr>
        <p:spPr>
          <a:xfrm>
            <a:off x="10136981" y="3815079"/>
            <a:ext cx="1122839" cy="508000"/>
          </a:xfrm>
          <a:prstGeom prst="rect">
            <a:avLst/>
          </a:prstGeom>
          <a:noFill/>
          <a:ln/>
        </p:spPr>
        <p:txBody>
          <a:bodyPr wrap="square" lIns="0" tIns="0" rIns="0" bIns="0" rtlCol="0" anchor="t">
            <a:normAutofit/>
          </a:bodyPr>
          <a:lstStyle/>
          <a:p>
            <a:pPr algn="l" indent="0" marL="0">
              <a:lnSpc>
                <a:spcPts val="3800"/>
              </a:lnSpc>
              <a:buNone/>
            </a:pPr>
            <a:r>
              <a:rPr lang="en-US" sz="3800" b="1" spc="-100" kern="0" dirty="0">
                <a:solidFill>
                  <a:srgbClr val="FF2B33"/>
                </a:solidFill>
                <a:latin typeface="Bricolage Grotesque" pitchFamily="34" charset="0"/>
                <a:ea typeface="Bricolage Grotesque" pitchFamily="34" charset="-122"/>
                <a:cs typeface="Bricolage Grotesque" pitchFamily="34" charset="-120"/>
              </a:rPr>
              <a:t>98</a:t>
            </a:r>
            <a:endParaRPr lang="en-US" sz="3800" dirty="0"/>
          </a:p>
        </p:txBody>
      </p:sp>
      <p:sp>
        <p:nvSpPr>
          <p:cNvPr id="20" name="Text 17"/>
          <p:cNvSpPr/>
          <p:nvPr/>
        </p:nvSpPr>
        <p:spPr>
          <a:xfrm>
            <a:off x="10136981" y="4310379"/>
            <a:ext cx="112283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1EFE9"/>
                </a:solidFill>
                <a:latin typeface="Bricolage Grotesque" pitchFamily="34" charset="0"/>
                <a:ea typeface="Bricolage Grotesque" pitchFamily="34" charset="-122"/>
                <a:cs typeface="Bricolage Grotesque" pitchFamily="34" charset="-120"/>
              </a:rPr>
              <a:t>minutes</a:t>
            </a:r>
            <a:endParaRPr lang="en-US" sz="1200" dirty="0"/>
          </a:p>
        </p:txBody>
      </p:sp>
      <p:pic>
        <p:nvPicPr>
          <p:cNvPr id="21" name="Image 1" descr="AIdea pulse mark">    </p:cNvPr>
          <p:cNvPicPr>
            <a:picLocks noChangeAspect="1"/>
          </p:cNvPicPr>
          <p:nvPr/>
        </p:nvPicPr>
        <p:blipFill>
          <a:blip r:embed="rId2"/>
          <a:srcRect l="0" r="0" t="0" b="0"/>
          <a:stretch/>
        </p:blipFill>
        <p:spPr>
          <a:xfrm>
            <a:off x="812800" y="6248400"/>
            <a:ext cx="457200" cy="254000"/>
          </a:xfrm>
          <a:prstGeom prst="rect">
            <a:avLst/>
          </a:prstGeom>
        </p:spPr>
      </p:pic>
      <p:sp>
        <p:nvSpPr>
          <p:cNvPr id="22" name="Text 18"/>
          <p:cNvSpPr/>
          <p:nvPr/>
        </p:nvSpPr>
        <p:spPr>
          <a:xfrm>
            <a:off x="1371600" y="6238242"/>
            <a:ext cx="2616200"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A39A96"/>
                </a:solidFill>
                <a:latin typeface="IBM Plex Mono" pitchFamily="49" charset="0"/>
                <a:ea typeface="IBM Plex Mono" pitchFamily="49" charset="-122"/>
                <a:cs typeface="IBM Plex Mono" pitchFamily="49" charset="-120"/>
              </a:rPr>
              <a:t>AIDEA</a:t>
            </a:r>
            <a:endParaRPr lang="en-US" sz="1200" dirty="0"/>
          </a:p>
        </p:txBody>
      </p:sp>
      <p:sp>
        <p:nvSpPr>
          <p:cNvPr id="23" name="Text 1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FF2B33"/>
                </a:solidFill>
                <a:latin typeface="IBM Plex Mono" pitchFamily="49" charset="0"/>
                <a:ea typeface="IBM Plex Mono" pitchFamily="49" charset="-122"/>
                <a:cs typeface="IBM Plex Mono" pitchFamily="49" charset="-120"/>
              </a:rPr>
              <a:t>UNDER THE HOOD</a:t>
            </a:r>
            <a:endParaRPr lang="en-US" sz="1200" dirty="0"/>
          </a:p>
        </p:txBody>
      </p:sp>
      <p:sp>
        <p:nvSpPr>
          <p:cNvPr id="3" name="Text 1"/>
          <p:cNvSpPr/>
          <p:nvPr>
            <p:ph type="title"/>
          </p:nvPr>
        </p:nvSpPr>
        <p:spPr>
          <a:xfrm>
            <a:off x="812800" y="1330964"/>
            <a:ext cx="10203180" cy="736600"/>
          </a:xfrm>
          <a:prstGeom prst="rect">
            <a:avLst/>
          </a:prstGeom>
          <a:noFill/>
          <a:ln/>
        </p:spPr>
        <p:txBody>
          <a:bodyPr wrap="square" lIns="0" tIns="0" rIns="0" bIns="0" rtlCol="0" anchor="t">
            <a:normAutofit/>
          </a:bodyPr>
          <a:lstStyle/>
          <a:p>
            <a:pPr algn="l" indent="0" marL="0">
              <a:lnSpc>
                <a:spcPts val="5600"/>
              </a:lnSpc>
              <a:buNone/>
            </a:pPr>
            <a:r>
              <a:rPr lang="en-US" sz="5600" b="1" i="0" spc="-150" kern="0" dirty="0">
                <a:solidFill>
                  <a:srgbClr val="F1EFE9"/>
                </a:solidFill>
                <a:latin typeface="Bricolage Grotesque" pitchFamily="34" charset="0"/>
                <a:ea typeface="Bricolage Grotesque" pitchFamily="34" charset="-122"/>
                <a:cs typeface="Bricolage Grotesque" pitchFamily="34" charset="-120"/>
              </a:rPr>
              <a:t>A pipeline, not a prompt.</a:t>
            </a:r>
            <a:endParaRPr lang="en-US" sz="5600" dirty="0"/>
          </a:p>
        </p:txBody>
      </p:sp>
      <p:sp>
        <p:nvSpPr>
          <p:cNvPr id="4" name="Shape 2"/>
          <p:cNvSpPr/>
          <p:nvPr/>
        </p:nvSpPr>
        <p:spPr>
          <a:xfrm>
            <a:off x="812800" y="4025267"/>
            <a:ext cx="1444149" cy="1254760"/>
          </a:xfrm>
          <a:prstGeom prst="rect">
            <a:avLst/>
          </a:prstGeom>
          <a:solidFill>
            <a:srgbClr val="1A1414"/>
          </a:solidFill>
          <a:ln/>
        </p:spPr>
      </p:sp>
      <p:sp>
        <p:nvSpPr>
          <p:cNvPr id="5" name="Shape 3"/>
          <p:cNvSpPr/>
          <p:nvPr/>
        </p:nvSpPr>
        <p:spPr>
          <a:xfrm>
            <a:off x="812800" y="4041142"/>
            <a:ext cx="1444149" cy="0"/>
          </a:xfrm>
          <a:prstGeom prst="line">
            <a:avLst/>
          </a:prstGeom>
          <a:noFill/>
          <a:ln w="31750">
            <a:solidFill>
              <a:srgbClr val="6A5A5A"/>
            </a:solidFill>
            <a:prstDash val="solid"/>
          </a:ln>
        </p:spPr>
      </p:sp>
      <p:sp>
        <p:nvSpPr>
          <p:cNvPr id="6" name="Text 4"/>
          <p:cNvSpPr/>
          <p:nvPr/>
        </p:nvSpPr>
        <p:spPr>
          <a:xfrm>
            <a:off x="939800" y="4195446"/>
            <a:ext cx="124094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A96"/>
                </a:solidFill>
                <a:latin typeface="IBM Plex Mono" pitchFamily="49" charset="0"/>
                <a:ea typeface="IBM Plex Mono" pitchFamily="49" charset="-122"/>
                <a:cs typeface="IBM Plex Mono" pitchFamily="49" charset="-120"/>
              </a:rPr>
              <a:t>SOURCES</a:t>
            </a:r>
            <a:endParaRPr lang="en-US" sz="1200" dirty="0"/>
          </a:p>
        </p:txBody>
      </p:sp>
      <p:sp>
        <p:nvSpPr>
          <p:cNvPr id="7" name="Text 5"/>
          <p:cNvSpPr/>
          <p:nvPr/>
        </p:nvSpPr>
        <p:spPr>
          <a:xfrm>
            <a:off x="939800" y="4472304"/>
            <a:ext cx="1240949" cy="406400"/>
          </a:xfrm>
          <a:prstGeom prst="rect">
            <a:avLst/>
          </a:prstGeom>
          <a:noFill/>
          <a:ln/>
        </p:spPr>
        <p:txBody>
          <a:bodyPr wrap="square" lIns="0" tIns="0" rIns="0" bIns="0" rtlCol="0" anchor="t">
            <a:normAutofit/>
          </a:bodyPr>
          <a:lstStyle/>
          <a:p>
            <a:pPr algn="l" indent="0" marL="0">
              <a:lnSpc>
                <a:spcPts val="3000"/>
              </a:lnSpc>
              <a:buNone/>
            </a:pPr>
            <a:r>
              <a:rPr lang="en-US" sz="3000" b="1" spc="-100" kern="0" dirty="0">
                <a:solidFill>
                  <a:srgbClr val="F1EFE9"/>
                </a:solidFill>
                <a:latin typeface="Bricolage Grotesque" pitchFamily="34" charset="0"/>
                <a:ea typeface="Bricolage Grotesque" pitchFamily="34" charset="-122"/>
                <a:cs typeface="Bricolage Grotesque" pitchFamily="34" charset="-120"/>
              </a:rPr>
              <a:t>41</a:t>
            </a:r>
            <a:endParaRPr lang="en-US" sz="3000" dirty="0"/>
          </a:p>
        </p:txBody>
      </p:sp>
      <p:sp>
        <p:nvSpPr>
          <p:cNvPr id="8" name="Text 6"/>
          <p:cNvSpPr/>
          <p:nvPr/>
        </p:nvSpPr>
        <p:spPr>
          <a:xfrm>
            <a:off x="939800" y="4916804"/>
            <a:ext cx="124094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9A96"/>
                </a:solidFill>
                <a:latin typeface="Bricolage Grotesque" pitchFamily="34" charset="0"/>
                <a:ea typeface="Bricolage Grotesque" pitchFamily="34" charset="-122"/>
                <a:cs typeface="Bricolage Grotesque" pitchFamily="34" charset="-120"/>
              </a:rPr>
              <a:t>followed</a:t>
            </a:r>
            <a:endParaRPr lang="en-US" sz="1200" dirty="0"/>
          </a:p>
        </p:txBody>
      </p:sp>
      <p:sp>
        <p:nvSpPr>
          <p:cNvPr id="9" name="Shape 7"/>
          <p:cNvSpPr/>
          <p:nvPr/>
        </p:nvSpPr>
        <p:spPr>
          <a:xfrm>
            <a:off x="2333149" y="4025267"/>
            <a:ext cx="1444228" cy="1254760"/>
          </a:xfrm>
          <a:prstGeom prst="rect">
            <a:avLst/>
          </a:prstGeom>
          <a:solidFill>
            <a:srgbClr val="1A1414"/>
          </a:solidFill>
          <a:ln/>
        </p:spPr>
      </p:sp>
      <p:sp>
        <p:nvSpPr>
          <p:cNvPr id="10" name="Shape 8"/>
          <p:cNvSpPr/>
          <p:nvPr/>
        </p:nvSpPr>
        <p:spPr>
          <a:xfrm>
            <a:off x="2333149" y="4041142"/>
            <a:ext cx="1444228" cy="0"/>
          </a:xfrm>
          <a:prstGeom prst="line">
            <a:avLst/>
          </a:prstGeom>
          <a:noFill/>
          <a:ln w="31750">
            <a:solidFill>
              <a:srgbClr val="6A5A5A"/>
            </a:solidFill>
            <a:prstDash val="solid"/>
          </a:ln>
        </p:spPr>
      </p:sp>
      <p:sp>
        <p:nvSpPr>
          <p:cNvPr id="11" name="Text 9"/>
          <p:cNvSpPr/>
          <p:nvPr/>
        </p:nvSpPr>
        <p:spPr>
          <a:xfrm>
            <a:off x="2460149" y="4195446"/>
            <a:ext cx="12410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A96"/>
                </a:solidFill>
                <a:latin typeface="IBM Plex Mono" pitchFamily="49" charset="0"/>
                <a:ea typeface="IBM Plex Mono" pitchFamily="49" charset="-122"/>
                <a:cs typeface="IBM Plex Mono" pitchFamily="49" charset="-120"/>
              </a:rPr>
              <a:t>COLLECT</a:t>
            </a:r>
            <a:endParaRPr lang="en-US" sz="1200" dirty="0"/>
          </a:p>
        </p:txBody>
      </p:sp>
      <p:sp>
        <p:nvSpPr>
          <p:cNvPr id="12" name="Text 10"/>
          <p:cNvSpPr/>
          <p:nvPr/>
        </p:nvSpPr>
        <p:spPr>
          <a:xfrm>
            <a:off x="2460149" y="4472304"/>
            <a:ext cx="1241028" cy="406400"/>
          </a:xfrm>
          <a:prstGeom prst="rect">
            <a:avLst/>
          </a:prstGeom>
          <a:noFill/>
          <a:ln/>
        </p:spPr>
        <p:txBody>
          <a:bodyPr wrap="square" lIns="0" tIns="0" rIns="0" bIns="0" rtlCol="0" anchor="t">
            <a:normAutofit/>
          </a:bodyPr>
          <a:lstStyle/>
          <a:p>
            <a:pPr algn="l" indent="0" marL="0">
              <a:lnSpc>
                <a:spcPts val="3000"/>
              </a:lnSpc>
              <a:buNone/>
            </a:pPr>
            <a:r>
              <a:rPr lang="en-US" sz="3000" b="1" spc="-100" kern="0" dirty="0">
                <a:solidFill>
                  <a:srgbClr val="F1EFE9"/>
                </a:solidFill>
                <a:latin typeface="Bricolage Grotesque" pitchFamily="34" charset="0"/>
                <a:ea typeface="Bricolage Grotesque" pitchFamily="34" charset="-122"/>
                <a:cs typeface="Bricolage Grotesque" pitchFamily="34" charset="-120"/>
              </a:rPr>
              <a:t>22,735</a:t>
            </a:r>
            <a:endParaRPr lang="en-US" sz="3000" dirty="0"/>
          </a:p>
        </p:txBody>
      </p:sp>
      <p:sp>
        <p:nvSpPr>
          <p:cNvPr id="13" name="Text 11"/>
          <p:cNvSpPr/>
          <p:nvPr/>
        </p:nvSpPr>
        <p:spPr>
          <a:xfrm>
            <a:off x="2460149" y="4916804"/>
            <a:ext cx="124102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9A96"/>
                </a:solidFill>
                <a:latin typeface="Bricolage Grotesque" pitchFamily="34" charset="0"/>
                <a:ea typeface="Bricolage Grotesque" pitchFamily="34" charset="-122"/>
                <a:cs typeface="Bricolage Grotesque" pitchFamily="34" charset="-120"/>
              </a:rPr>
              <a:t>entries</a:t>
            </a:r>
            <a:endParaRPr lang="en-US" sz="1200" dirty="0"/>
          </a:p>
        </p:txBody>
      </p:sp>
      <p:sp>
        <p:nvSpPr>
          <p:cNvPr id="14" name="Shape 12"/>
          <p:cNvSpPr/>
          <p:nvPr/>
        </p:nvSpPr>
        <p:spPr>
          <a:xfrm>
            <a:off x="3853577" y="4025267"/>
            <a:ext cx="1444149" cy="1254760"/>
          </a:xfrm>
          <a:prstGeom prst="rect">
            <a:avLst/>
          </a:prstGeom>
          <a:solidFill>
            <a:srgbClr val="1A1414"/>
          </a:solidFill>
          <a:ln/>
        </p:spPr>
      </p:sp>
      <p:sp>
        <p:nvSpPr>
          <p:cNvPr id="15" name="Shape 13"/>
          <p:cNvSpPr/>
          <p:nvPr/>
        </p:nvSpPr>
        <p:spPr>
          <a:xfrm>
            <a:off x="3853577" y="4041142"/>
            <a:ext cx="1444149" cy="0"/>
          </a:xfrm>
          <a:prstGeom prst="line">
            <a:avLst/>
          </a:prstGeom>
          <a:noFill/>
          <a:ln w="31750">
            <a:solidFill>
              <a:srgbClr val="6A5A5A"/>
            </a:solidFill>
            <a:prstDash val="solid"/>
          </a:ln>
        </p:spPr>
      </p:sp>
      <p:sp>
        <p:nvSpPr>
          <p:cNvPr id="16" name="Text 14"/>
          <p:cNvSpPr/>
          <p:nvPr/>
        </p:nvSpPr>
        <p:spPr>
          <a:xfrm>
            <a:off x="3980577" y="4195446"/>
            <a:ext cx="124094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A96"/>
                </a:solidFill>
                <a:latin typeface="IBM Plex Mono" pitchFamily="49" charset="0"/>
                <a:ea typeface="IBM Plex Mono" pitchFamily="49" charset="-122"/>
                <a:cs typeface="IBM Plex Mono" pitchFamily="49" charset="-120"/>
              </a:rPr>
              <a:t>FILTER</a:t>
            </a:r>
            <a:endParaRPr lang="en-US" sz="1200" dirty="0"/>
          </a:p>
        </p:txBody>
      </p:sp>
      <p:sp>
        <p:nvSpPr>
          <p:cNvPr id="17" name="Text 15"/>
          <p:cNvSpPr/>
          <p:nvPr/>
        </p:nvSpPr>
        <p:spPr>
          <a:xfrm>
            <a:off x="3980577" y="4472304"/>
            <a:ext cx="1240949" cy="406400"/>
          </a:xfrm>
          <a:prstGeom prst="rect">
            <a:avLst/>
          </a:prstGeom>
          <a:noFill/>
          <a:ln/>
        </p:spPr>
        <p:txBody>
          <a:bodyPr wrap="square" lIns="0" tIns="0" rIns="0" bIns="0" rtlCol="0" anchor="t">
            <a:normAutofit/>
          </a:bodyPr>
          <a:lstStyle/>
          <a:p>
            <a:pPr algn="l" indent="0" marL="0">
              <a:lnSpc>
                <a:spcPts val="3000"/>
              </a:lnSpc>
              <a:buNone/>
            </a:pPr>
            <a:r>
              <a:rPr lang="en-US" sz="3000" b="1" spc="-100" kern="0" dirty="0">
                <a:solidFill>
                  <a:srgbClr val="F1EFE9"/>
                </a:solidFill>
                <a:latin typeface="Bricolage Grotesque" pitchFamily="34" charset="0"/>
                <a:ea typeface="Bricolage Grotesque" pitchFamily="34" charset="-122"/>
                <a:cs typeface="Bricolage Grotesque" pitchFamily="34" charset="-120"/>
              </a:rPr>
              <a:t>416</a:t>
            </a:r>
            <a:endParaRPr lang="en-US" sz="3000" dirty="0"/>
          </a:p>
        </p:txBody>
      </p:sp>
      <p:sp>
        <p:nvSpPr>
          <p:cNvPr id="18" name="Text 16"/>
          <p:cNvSpPr/>
          <p:nvPr/>
        </p:nvSpPr>
        <p:spPr>
          <a:xfrm>
            <a:off x="3980577" y="4916804"/>
            <a:ext cx="124094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9A96"/>
                </a:solidFill>
                <a:latin typeface="Bricolage Grotesque" pitchFamily="34" charset="0"/>
                <a:ea typeface="Bricolage Grotesque" pitchFamily="34" charset="-122"/>
                <a:cs typeface="Bricolage Grotesque" pitchFamily="34" charset="-120"/>
              </a:rPr>
              <a:t>about AI</a:t>
            </a:r>
            <a:endParaRPr lang="en-US" sz="1200" dirty="0"/>
          </a:p>
        </p:txBody>
      </p:sp>
      <p:sp>
        <p:nvSpPr>
          <p:cNvPr id="19" name="Shape 17"/>
          <p:cNvSpPr/>
          <p:nvPr/>
        </p:nvSpPr>
        <p:spPr>
          <a:xfrm>
            <a:off x="5373926" y="4025267"/>
            <a:ext cx="1444228" cy="1254760"/>
          </a:xfrm>
          <a:prstGeom prst="rect">
            <a:avLst/>
          </a:prstGeom>
          <a:solidFill>
            <a:srgbClr val="1A1414"/>
          </a:solidFill>
          <a:ln/>
        </p:spPr>
      </p:sp>
      <p:sp>
        <p:nvSpPr>
          <p:cNvPr id="20" name="Shape 18"/>
          <p:cNvSpPr/>
          <p:nvPr/>
        </p:nvSpPr>
        <p:spPr>
          <a:xfrm>
            <a:off x="5373926" y="4041142"/>
            <a:ext cx="1444228" cy="0"/>
          </a:xfrm>
          <a:prstGeom prst="line">
            <a:avLst/>
          </a:prstGeom>
          <a:noFill/>
          <a:ln w="31750">
            <a:solidFill>
              <a:srgbClr val="FF2B33"/>
            </a:solidFill>
            <a:prstDash val="solid"/>
          </a:ln>
        </p:spPr>
      </p:sp>
      <p:sp>
        <p:nvSpPr>
          <p:cNvPr id="21" name="Text 19"/>
          <p:cNvSpPr/>
          <p:nvPr/>
        </p:nvSpPr>
        <p:spPr>
          <a:xfrm>
            <a:off x="5500926" y="4195446"/>
            <a:ext cx="12410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2B33"/>
                </a:solidFill>
                <a:latin typeface="IBM Plex Mono" pitchFamily="49" charset="0"/>
                <a:ea typeface="IBM Plex Mono" pitchFamily="49" charset="-122"/>
                <a:cs typeface="IBM Plex Mono" pitchFamily="49" charset="-120"/>
              </a:rPr>
              <a:t>GROUP</a:t>
            </a:r>
            <a:endParaRPr lang="en-US" sz="1200" dirty="0"/>
          </a:p>
        </p:txBody>
      </p:sp>
      <p:sp>
        <p:nvSpPr>
          <p:cNvPr id="22" name="Text 20"/>
          <p:cNvSpPr/>
          <p:nvPr/>
        </p:nvSpPr>
        <p:spPr>
          <a:xfrm>
            <a:off x="5500926" y="4472304"/>
            <a:ext cx="1241028" cy="406400"/>
          </a:xfrm>
          <a:prstGeom prst="rect">
            <a:avLst/>
          </a:prstGeom>
          <a:noFill/>
          <a:ln/>
        </p:spPr>
        <p:txBody>
          <a:bodyPr wrap="square" lIns="0" tIns="0" rIns="0" bIns="0" rtlCol="0" anchor="t">
            <a:normAutofit/>
          </a:bodyPr>
          <a:lstStyle/>
          <a:p>
            <a:pPr algn="l" indent="0" marL="0">
              <a:lnSpc>
                <a:spcPts val="3000"/>
              </a:lnSpc>
              <a:buNone/>
            </a:pPr>
            <a:r>
              <a:rPr lang="en-US" sz="3000" b="1" spc="-100" kern="0" dirty="0">
                <a:solidFill>
                  <a:srgbClr val="F1EFE9"/>
                </a:solidFill>
                <a:latin typeface="Bricolage Grotesque" pitchFamily="34" charset="0"/>
                <a:ea typeface="Bricolage Grotesque" pitchFamily="34" charset="-122"/>
                <a:cs typeface="Bricolage Grotesque" pitchFamily="34" charset="-120"/>
              </a:rPr>
              <a:t>315</a:t>
            </a:r>
            <a:endParaRPr lang="en-US" sz="3000" dirty="0"/>
          </a:p>
        </p:txBody>
      </p:sp>
      <p:sp>
        <p:nvSpPr>
          <p:cNvPr id="23" name="Text 21"/>
          <p:cNvSpPr/>
          <p:nvPr/>
        </p:nvSpPr>
        <p:spPr>
          <a:xfrm>
            <a:off x="5500926" y="4916804"/>
            <a:ext cx="1241028"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9A96"/>
                </a:solidFill>
                <a:latin typeface="Bricolage Grotesque" pitchFamily="34" charset="0"/>
                <a:ea typeface="Bricolage Grotesque" pitchFamily="34" charset="-122"/>
                <a:cs typeface="Bricolage Grotesque" pitchFamily="34" charset="-120"/>
              </a:rPr>
              <a:t>stories</a:t>
            </a:r>
            <a:endParaRPr lang="en-US" sz="1200" dirty="0"/>
          </a:p>
        </p:txBody>
      </p:sp>
      <p:sp>
        <p:nvSpPr>
          <p:cNvPr id="24" name="Shape 22"/>
          <p:cNvSpPr/>
          <p:nvPr/>
        </p:nvSpPr>
        <p:spPr>
          <a:xfrm>
            <a:off x="6894354" y="4025267"/>
            <a:ext cx="1444149" cy="1254760"/>
          </a:xfrm>
          <a:prstGeom prst="rect">
            <a:avLst/>
          </a:prstGeom>
          <a:solidFill>
            <a:srgbClr val="1A1414"/>
          </a:solidFill>
          <a:ln/>
        </p:spPr>
      </p:sp>
      <p:sp>
        <p:nvSpPr>
          <p:cNvPr id="25" name="Shape 23"/>
          <p:cNvSpPr/>
          <p:nvPr/>
        </p:nvSpPr>
        <p:spPr>
          <a:xfrm>
            <a:off x="6894354" y="4041142"/>
            <a:ext cx="1444149" cy="0"/>
          </a:xfrm>
          <a:prstGeom prst="line">
            <a:avLst/>
          </a:prstGeom>
          <a:noFill/>
          <a:ln w="31750">
            <a:solidFill>
              <a:srgbClr val="FF2B33"/>
            </a:solidFill>
            <a:prstDash val="solid"/>
          </a:ln>
        </p:spPr>
      </p:sp>
      <p:sp>
        <p:nvSpPr>
          <p:cNvPr id="26" name="Text 24"/>
          <p:cNvSpPr/>
          <p:nvPr/>
        </p:nvSpPr>
        <p:spPr>
          <a:xfrm>
            <a:off x="7021354" y="4195446"/>
            <a:ext cx="124094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2B33"/>
                </a:solidFill>
                <a:latin typeface="IBM Plex Mono" pitchFamily="49" charset="0"/>
                <a:ea typeface="IBM Plex Mono" pitchFamily="49" charset="-122"/>
                <a:cs typeface="IBM Plex Mono" pitchFamily="49" charset="-120"/>
              </a:rPr>
              <a:t>RANK</a:t>
            </a:r>
            <a:endParaRPr lang="en-US" sz="1200" dirty="0"/>
          </a:p>
        </p:txBody>
      </p:sp>
      <p:sp>
        <p:nvSpPr>
          <p:cNvPr id="27" name="Text 25"/>
          <p:cNvSpPr/>
          <p:nvPr/>
        </p:nvSpPr>
        <p:spPr>
          <a:xfrm>
            <a:off x="7021354" y="4472304"/>
            <a:ext cx="1240949" cy="406400"/>
          </a:xfrm>
          <a:prstGeom prst="rect">
            <a:avLst/>
          </a:prstGeom>
          <a:noFill/>
          <a:ln/>
        </p:spPr>
        <p:txBody>
          <a:bodyPr wrap="square" lIns="0" tIns="0" rIns="0" bIns="0" rtlCol="0" anchor="t">
            <a:normAutofit/>
          </a:bodyPr>
          <a:lstStyle/>
          <a:p>
            <a:pPr algn="l" indent="0" marL="0">
              <a:lnSpc>
                <a:spcPts val="3000"/>
              </a:lnSpc>
              <a:buNone/>
            </a:pPr>
            <a:r>
              <a:rPr lang="en-US" sz="3000" b="1" spc="-100" kern="0" dirty="0">
                <a:solidFill>
                  <a:srgbClr val="F1EFE9"/>
                </a:solidFill>
                <a:latin typeface="Bricolage Grotesque" pitchFamily="34" charset="0"/>
                <a:ea typeface="Bricolage Grotesque" pitchFamily="34" charset="-122"/>
                <a:cs typeface="Bricolage Grotesque" pitchFamily="34" charset="-120"/>
              </a:rPr>
              <a:t>73</a:t>
            </a:r>
            <a:endParaRPr lang="en-US" sz="3000" dirty="0"/>
          </a:p>
        </p:txBody>
      </p:sp>
      <p:sp>
        <p:nvSpPr>
          <p:cNvPr id="28" name="Text 26"/>
          <p:cNvSpPr/>
          <p:nvPr/>
        </p:nvSpPr>
        <p:spPr>
          <a:xfrm>
            <a:off x="7021354" y="4916804"/>
            <a:ext cx="124094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9A96"/>
                </a:solidFill>
                <a:latin typeface="Bricolage Grotesque" pitchFamily="34" charset="0"/>
                <a:ea typeface="Bricolage Grotesque" pitchFamily="34" charset="-122"/>
                <a:cs typeface="Bricolage Grotesque" pitchFamily="34" charset="-120"/>
              </a:rPr>
              <a:t>chosen</a:t>
            </a:r>
            <a:endParaRPr lang="en-US" sz="1200" dirty="0"/>
          </a:p>
        </p:txBody>
      </p:sp>
      <p:sp>
        <p:nvSpPr>
          <p:cNvPr id="29" name="Shape 27"/>
          <p:cNvSpPr/>
          <p:nvPr/>
        </p:nvSpPr>
        <p:spPr>
          <a:xfrm>
            <a:off x="8414703" y="4025267"/>
            <a:ext cx="1444149" cy="1254760"/>
          </a:xfrm>
          <a:prstGeom prst="rect">
            <a:avLst/>
          </a:prstGeom>
          <a:solidFill>
            <a:srgbClr val="1A1414"/>
          </a:solidFill>
          <a:ln/>
        </p:spPr>
      </p:sp>
      <p:sp>
        <p:nvSpPr>
          <p:cNvPr id="30" name="Shape 28"/>
          <p:cNvSpPr/>
          <p:nvPr/>
        </p:nvSpPr>
        <p:spPr>
          <a:xfrm>
            <a:off x="8414703" y="4041142"/>
            <a:ext cx="1444149" cy="0"/>
          </a:xfrm>
          <a:prstGeom prst="line">
            <a:avLst/>
          </a:prstGeom>
          <a:noFill/>
          <a:ln w="31750">
            <a:solidFill>
              <a:srgbClr val="FF2B33"/>
            </a:solidFill>
            <a:prstDash val="solid"/>
          </a:ln>
        </p:spPr>
      </p:sp>
      <p:sp>
        <p:nvSpPr>
          <p:cNvPr id="31" name="Text 29"/>
          <p:cNvSpPr/>
          <p:nvPr/>
        </p:nvSpPr>
        <p:spPr>
          <a:xfrm>
            <a:off x="8541703" y="4195446"/>
            <a:ext cx="124094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2B33"/>
                </a:solidFill>
                <a:latin typeface="IBM Plex Mono" pitchFamily="49" charset="0"/>
                <a:ea typeface="IBM Plex Mono" pitchFamily="49" charset="-122"/>
                <a:cs typeface="IBM Plex Mono" pitchFamily="49" charset="-120"/>
              </a:rPr>
              <a:t>WRITE</a:t>
            </a:r>
            <a:endParaRPr lang="en-US" sz="1200" dirty="0"/>
          </a:p>
        </p:txBody>
      </p:sp>
      <p:sp>
        <p:nvSpPr>
          <p:cNvPr id="32" name="Text 30"/>
          <p:cNvSpPr/>
          <p:nvPr/>
        </p:nvSpPr>
        <p:spPr>
          <a:xfrm>
            <a:off x="8541703" y="4472304"/>
            <a:ext cx="1240949" cy="406400"/>
          </a:xfrm>
          <a:prstGeom prst="rect">
            <a:avLst/>
          </a:prstGeom>
          <a:noFill/>
          <a:ln/>
        </p:spPr>
        <p:txBody>
          <a:bodyPr wrap="square" lIns="0" tIns="0" rIns="0" bIns="0" rtlCol="0" anchor="t">
            <a:normAutofit/>
          </a:bodyPr>
          <a:lstStyle/>
          <a:p>
            <a:pPr algn="l" indent="0" marL="0">
              <a:lnSpc>
                <a:spcPts val="3000"/>
              </a:lnSpc>
              <a:buNone/>
            </a:pPr>
            <a:r>
              <a:rPr lang="en-US" sz="3000" b="1" spc="-100" kern="0" dirty="0">
                <a:solidFill>
                  <a:srgbClr val="F1EFE9"/>
                </a:solidFill>
                <a:latin typeface="Bricolage Grotesque" pitchFamily="34" charset="0"/>
                <a:ea typeface="Bricolage Grotesque" pitchFamily="34" charset="-122"/>
                <a:cs typeface="Bricolage Grotesque" pitchFamily="34" charset="-120"/>
              </a:rPr>
              <a:t>12,306</a:t>
            </a:r>
            <a:endParaRPr lang="en-US" sz="3000" dirty="0"/>
          </a:p>
        </p:txBody>
      </p:sp>
      <p:sp>
        <p:nvSpPr>
          <p:cNvPr id="33" name="Text 31"/>
          <p:cNvSpPr/>
          <p:nvPr/>
        </p:nvSpPr>
        <p:spPr>
          <a:xfrm>
            <a:off x="8541703" y="4916804"/>
            <a:ext cx="124094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9A96"/>
                </a:solidFill>
                <a:latin typeface="Bricolage Grotesque" pitchFamily="34" charset="0"/>
                <a:ea typeface="Bricolage Grotesque" pitchFamily="34" charset="-122"/>
                <a:cs typeface="Bricolage Grotesque" pitchFamily="34" charset="-120"/>
              </a:rPr>
              <a:t>words, checked</a:t>
            </a:r>
            <a:endParaRPr lang="en-US" sz="1200" dirty="0"/>
          </a:p>
        </p:txBody>
      </p:sp>
      <p:sp>
        <p:nvSpPr>
          <p:cNvPr id="34" name="Shape 32"/>
          <p:cNvSpPr/>
          <p:nvPr/>
        </p:nvSpPr>
        <p:spPr>
          <a:xfrm>
            <a:off x="9935052" y="4025267"/>
            <a:ext cx="1444149" cy="1254760"/>
          </a:xfrm>
          <a:prstGeom prst="rect">
            <a:avLst/>
          </a:prstGeom>
          <a:solidFill>
            <a:srgbClr val="1A1414"/>
          </a:solidFill>
          <a:ln/>
        </p:spPr>
      </p:sp>
      <p:sp>
        <p:nvSpPr>
          <p:cNvPr id="35" name="Shape 33"/>
          <p:cNvSpPr/>
          <p:nvPr/>
        </p:nvSpPr>
        <p:spPr>
          <a:xfrm>
            <a:off x="9935052" y="4041142"/>
            <a:ext cx="1444149" cy="0"/>
          </a:xfrm>
          <a:prstGeom prst="line">
            <a:avLst/>
          </a:prstGeom>
          <a:noFill/>
          <a:ln w="31750">
            <a:solidFill>
              <a:srgbClr val="6A5A5A"/>
            </a:solidFill>
            <a:prstDash val="solid"/>
          </a:ln>
        </p:spPr>
      </p:sp>
      <p:sp>
        <p:nvSpPr>
          <p:cNvPr id="36" name="Text 34"/>
          <p:cNvSpPr/>
          <p:nvPr/>
        </p:nvSpPr>
        <p:spPr>
          <a:xfrm>
            <a:off x="10062052" y="4195446"/>
            <a:ext cx="124094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39A96"/>
                </a:solidFill>
                <a:latin typeface="IBM Plex Mono" pitchFamily="49" charset="0"/>
                <a:ea typeface="IBM Plex Mono" pitchFamily="49" charset="-122"/>
                <a:cs typeface="IBM Plex Mono" pitchFamily="49" charset="-120"/>
              </a:rPr>
              <a:t>SPEAK</a:t>
            </a:r>
            <a:endParaRPr lang="en-US" sz="1200" dirty="0"/>
          </a:p>
        </p:txBody>
      </p:sp>
      <p:sp>
        <p:nvSpPr>
          <p:cNvPr id="37" name="Text 35"/>
          <p:cNvSpPr/>
          <p:nvPr/>
        </p:nvSpPr>
        <p:spPr>
          <a:xfrm>
            <a:off x="10062052" y="4472304"/>
            <a:ext cx="1240949" cy="406400"/>
          </a:xfrm>
          <a:prstGeom prst="rect">
            <a:avLst/>
          </a:prstGeom>
          <a:noFill/>
          <a:ln/>
        </p:spPr>
        <p:txBody>
          <a:bodyPr wrap="square" lIns="0" tIns="0" rIns="0" bIns="0" rtlCol="0" anchor="t">
            <a:normAutofit/>
          </a:bodyPr>
          <a:lstStyle/>
          <a:p>
            <a:pPr algn="l" indent="0" marL="0">
              <a:lnSpc>
                <a:spcPts val="3000"/>
              </a:lnSpc>
              <a:buNone/>
            </a:pPr>
            <a:r>
              <a:rPr lang="en-US" sz="3000" b="1" spc="-100" kern="0" dirty="0">
                <a:solidFill>
                  <a:srgbClr val="F1EFE9"/>
                </a:solidFill>
                <a:latin typeface="Bricolage Grotesque" pitchFamily="34" charset="0"/>
                <a:ea typeface="Bricolage Grotesque" pitchFamily="34" charset="-122"/>
                <a:cs typeface="Bricolage Grotesque" pitchFamily="34" charset="-120"/>
              </a:rPr>
              <a:t>98 min</a:t>
            </a:r>
            <a:endParaRPr lang="en-US" sz="3000" dirty="0"/>
          </a:p>
        </p:txBody>
      </p:sp>
      <p:sp>
        <p:nvSpPr>
          <p:cNvPr id="38" name="Text 36"/>
          <p:cNvSpPr/>
          <p:nvPr/>
        </p:nvSpPr>
        <p:spPr>
          <a:xfrm>
            <a:off x="10062052" y="4916804"/>
            <a:ext cx="1240949"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9A96"/>
                </a:solidFill>
                <a:latin typeface="Bricolage Grotesque" pitchFamily="34" charset="0"/>
                <a:ea typeface="Bricolage Grotesque" pitchFamily="34" charset="-122"/>
                <a:cs typeface="Bricolage Grotesque" pitchFamily="34" charset="-120"/>
              </a:rPr>
              <a:t>of audio</a:t>
            </a:r>
            <a:endParaRPr lang="en-US" sz="1200" dirty="0"/>
          </a:p>
        </p:txBody>
      </p:sp>
      <p:sp>
        <p:nvSpPr>
          <p:cNvPr id="39" name="Text 37"/>
          <p:cNvSpPr/>
          <p:nvPr/>
        </p:nvSpPr>
        <p:spPr>
          <a:xfrm>
            <a:off x="812800" y="5584825"/>
            <a:ext cx="1020318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FF2B33"/>
                </a:solidFill>
                <a:latin typeface="Bricolage Grotesque" pitchFamily="34" charset="0"/>
                <a:ea typeface="Bricolage Grotesque" pitchFamily="34" charset="-122"/>
                <a:cs typeface="Bricolage Grotesque" pitchFamily="34" charset="-120"/>
              </a:rPr>
              <a:t>Red</a:t>
            </a:r>
            <a:r>
              <a:rPr lang="en-US" sz="1500" dirty="0">
                <a:solidFill>
                  <a:srgbClr val="A39A96"/>
                </a:solidFill>
                <a:latin typeface="Bricolage Grotesque" pitchFamily="34" charset="0"/>
                <a:ea typeface="Bricolage Grotesque" pitchFamily="34" charset="-122"/>
                <a:cs typeface="Bricolage Grotesque" pitchFamily="34" charset="-120"/>
              </a:rPr>
              <a:t> uses the language model. The rest is plain code. Python · SQLite · Claude Sonnet 5.5 · Chatterbox Turbo</a:t>
            </a:r>
            <a:endParaRPr lang="en-US" sz="1500" dirty="0"/>
          </a:p>
        </p:txBody>
      </p:sp>
      <p:pic>
        <p:nvPicPr>
          <p:cNvPr id="40" name="Image 0" descr="AIdea pulse mark">    </p:cNvPr>
          <p:cNvPicPr>
            <a:picLocks noChangeAspect="1"/>
          </p:cNvPicPr>
          <p:nvPr/>
        </p:nvPicPr>
        <p:blipFill>
          <a:blip r:embed="rId1"/>
          <a:srcRect l="0" r="0" t="0" b="0"/>
          <a:stretch/>
        </p:blipFill>
        <p:spPr>
          <a:xfrm>
            <a:off x="812800" y="6248400"/>
            <a:ext cx="457200" cy="254000"/>
          </a:xfrm>
          <a:prstGeom prst="rect">
            <a:avLst/>
          </a:prstGeom>
        </p:spPr>
      </p:pic>
      <p:sp>
        <p:nvSpPr>
          <p:cNvPr id="41" name="Text 38"/>
          <p:cNvSpPr/>
          <p:nvPr/>
        </p:nvSpPr>
        <p:spPr>
          <a:xfrm>
            <a:off x="13716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39A96"/>
                </a:solidFill>
                <a:latin typeface="IBM Plex Mono" pitchFamily="49" charset="0"/>
                <a:ea typeface="IBM Plex Mono" pitchFamily="49" charset="-122"/>
                <a:cs typeface="IBM Plex Mono" pitchFamily="49" charset="-120"/>
              </a:rPr>
              <a:t>AIDEA · totals over our first five days of runs</a:t>
            </a:r>
            <a:endParaRPr lang="en-US" sz="1200" dirty="0"/>
          </a:p>
        </p:txBody>
      </p:sp>
      <p:sp>
        <p:nvSpPr>
          <p:cNvPr id="42" name="Text 3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FF2B33"/>
                </a:solidFill>
                <a:latin typeface="IBM Plex Mono" pitchFamily="49" charset="0"/>
                <a:ea typeface="IBM Plex Mono" pitchFamily="49" charset="-122"/>
                <a:cs typeface="IBM Plex Mono" pitchFamily="49" charset="-120"/>
              </a:rPr>
              <a:t>TRUST</a:t>
            </a:r>
            <a:endParaRPr lang="en-US" sz="1200" dirty="0"/>
          </a:p>
        </p:txBody>
      </p:sp>
      <p:sp>
        <p:nvSpPr>
          <p:cNvPr id="3" name="Text 1"/>
          <p:cNvSpPr/>
          <p:nvPr>
            <p:ph type="title"/>
          </p:nvPr>
        </p:nvSpPr>
        <p:spPr>
          <a:xfrm>
            <a:off x="812800" y="1330964"/>
            <a:ext cx="10203180" cy="736600"/>
          </a:xfrm>
          <a:prstGeom prst="rect">
            <a:avLst/>
          </a:prstGeom>
          <a:noFill/>
          <a:ln/>
        </p:spPr>
        <p:txBody>
          <a:bodyPr wrap="square" lIns="0" tIns="0" rIns="0" bIns="0" rtlCol="0" anchor="t">
            <a:normAutofit/>
          </a:bodyPr>
          <a:lstStyle/>
          <a:p>
            <a:pPr algn="l" indent="0" marL="0">
              <a:lnSpc>
                <a:spcPts val="5600"/>
              </a:lnSpc>
              <a:buNone/>
            </a:pPr>
            <a:r>
              <a:rPr lang="en-US" sz="5600" b="1" i="0" spc="-150" kern="0" dirty="0">
                <a:solidFill>
                  <a:srgbClr val="F1EFE9"/>
                </a:solidFill>
                <a:latin typeface="Bricolage Grotesque" pitchFamily="34" charset="0"/>
                <a:ea typeface="Bricolage Grotesque" pitchFamily="34" charset="-122"/>
                <a:cs typeface="Bricolage Grotesque" pitchFamily="34" charset="-120"/>
              </a:rPr>
              <a:t>Built to check itself.</a:t>
            </a:r>
            <a:endParaRPr lang="en-US" sz="5600" dirty="0"/>
          </a:p>
        </p:txBody>
      </p:sp>
      <p:sp>
        <p:nvSpPr>
          <p:cNvPr id="4" name="Shape 2"/>
          <p:cNvSpPr/>
          <p:nvPr/>
        </p:nvSpPr>
        <p:spPr>
          <a:xfrm>
            <a:off x="815975" y="4178939"/>
            <a:ext cx="2540000" cy="1659890"/>
          </a:xfrm>
          <a:prstGeom prst="rect">
            <a:avLst/>
          </a:prstGeom>
          <a:solidFill>
            <a:srgbClr val="1A1414"/>
          </a:solidFill>
          <a:ln w="6350">
            <a:solidFill>
              <a:srgbClr val="3A2A2A"/>
            </a:solidFill>
            <a:prstDash val="solid"/>
          </a:ln>
        </p:spPr>
      </p:sp>
      <p:sp>
        <p:nvSpPr>
          <p:cNvPr id="5" name="Text 3"/>
          <p:cNvSpPr/>
          <p:nvPr/>
        </p:nvSpPr>
        <p:spPr>
          <a:xfrm>
            <a:off x="1046480" y="4396742"/>
            <a:ext cx="2141360" cy="736600"/>
          </a:xfrm>
          <a:prstGeom prst="rect">
            <a:avLst/>
          </a:prstGeom>
          <a:noFill/>
          <a:ln/>
        </p:spPr>
        <p:txBody>
          <a:bodyPr wrap="square" lIns="0" tIns="0" rIns="0" bIns="0" rtlCol="0" anchor="t">
            <a:normAutofit/>
          </a:bodyPr>
          <a:lstStyle/>
          <a:p>
            <a:pPr algn="l" indent="0" marL="0">
              <a:lnSpc>
                <a:spcPts val="5600"/>
              </a:lnSpc>
              <a:buNone/>
            </a:pPr>
            <a:r>
              <a:rPr lang="en-US" sz="5600" b="1" spc="-150" kern="0" dirty="0">
                <a:solidFill>
                  <a:srgbClr val="F1EFE9"/>
                </a:solidFill>
                <a:latin typeface="Bricolage Grotesque" pitchFamily="34" charset="0"/>
                <a:ea typeface="Bricolage Grotesque" pitchFamily="34" charset="-122"/>
                <a:cs typeface="Bricolage Grotesque" pitchFamily="34" charset="-120"/>
              </a:rPr>
              <a:t>243</a:t>
            </a:r>
            <a:endParaRPr lang="en-US" sz="5600" dirty="0"/>
          </a:p>
        </p:txBody>
      </p:sp>
      <p:sp>
        <p:nvSpPr>
          <p:cNvPr id="6" name="Text 4"/>
          <p:cNvSpPr/>
          <p:nvPr/>
        </p:nvSpPr>
        <p:spPr>
          <a:xfrm>
            <a:off x="1046480" y="5158742"/>
            <a:ext cx="214136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39A96"/>
                </a:solidFill>
                <a:latin typeface="Bricolage Grotesque" pitchFamily="34" charset="0"/>
                <a:ea typeface="Bricolage Grotesque" pitchFamily="34" charset="-122"/>
                <a:cs typeface="Bricolage Grotesque" pitchFamily="34" charset="-120"/>
              </a:rPr>
              <a:t>automated tests</a:t>
            </a:r>
            <a:endParaRPr lang="en-US" sz="1400" dirty="0"/>
          </a:p>
        </p:txBody>
      </p:sp>
      <p:sp>
        <p:nvSpPr>
          <p:cNvPr id="7" name="Shape 5"/>
          <p:cNvSpPr/>
          <p:nvPr/>
        </p:nvSpPr>
        <p:spPr>
          <a:xfrm>
            <a:off x="3489325" y="4178939"/>
            <a:ext cx="2540000" cy="1659890"/>
          </a:xfrm>
          <a:prstGeom prst="rect">
            <a:avLst/>
          </a:prstGeom>
          <a:solidFill>
            <a:srgbClr val="1A1414"/>
          </a:solidFill>
          <a:ln w="6350">
            <a:solidFill>
              <a:srgbClr val="FF2B33"/>
            </a:solidFill>
            <a:prstDash val="solid"/>
          </a:ln>
        </p:spPr>
      </p:sp>
      <p:sp>
        <p:nvSpPr>
          <p:cNvPr id="8" name="Text 6"/>
          <p:cNvSpPr/>
          <p:nvPr/>
        </p:nvSpPr>
        <p:spPr>
          <a:xfrm>
            <a:off x="3719830" y="4396742"/>
            <a:ext cx="2141360" cy="736600"/>
          </a:xfrm>
          <a:prstGeom prst="rect">
            <a:avLst/>
          </a:prstGeom>
          <a:noFill/>
          <a:ln/>
        </p:spPr>
        <p:txBody>
          <a:bodyPr wrap="square" lIns="0" tIns="0" rIns="0" bIns="0" rtlCol="0" anchor="t">
            <a:normAutofit/>
          </a:bodyPr>
          <a:lstStyle/>
          <a:p>
            <a:pPr algn="l" indent="0" marL="0">
              <a:lnSpc>
                <a:spcPts val="5600"/>
              </a:lnSpc>
              <a:buNone/>
            </a:pPr>
            <a:r>
              <a:rPr lang="en-US" sz="5600" b="1" spc="-150" kern="0" dirty="0">
                <a:solidFill>
                  <a:srgbClr val="FF2B33"/>
                </a:solidFill>
                <a:latin typeface="Bricolage Grotesque" pitchFamily="34" charset="0"/>
                <a:ea typeface="Bricolage Grotesque" pitchFamily="34" charset="-122"/>
                <a:cs typeface="Bricolage Grotesque" pitchFamily="34" charset="-120"/>
              </a:rPr>
              <a:t>17</a:t>
            </a:r>
            <a:endParaRPr lang="en-US" sz="5600" dirty="0"/>
          </a:p>
        </p:txBody>
      </p:sp>
      <p:sp>
        <p:nvSpPr>
          <p:cNvPr id="9" name="Text 7"/>
          <p:cNvSpPr/>
          <p:nvPr/>
        </p:nvSpPr>
        <p:spPr>
          <a:xfrm>
            <a:off x="3719830" y="5158742"/>
            <a:ext cx="2141360"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1EFE9"/>
                </a:solidFill>
                <a:latin typeface="Bricolage Grotesque" pitchFamily="34" charset="0"/>
                <a:ea typeface="Bricolage Grotesque" pitchFamily="34" charset="-122"/>
                <a:cs typeface="Bricolage Grotesque" pitchFamily="34" charset="-120"/>
              </a:rPr>
              <a:t>unsupported lines caught</a:t>
            </a:r>
            <a:endParaRPr lang="en-US" sz="1400" dirty="0"/>
          </a:p>
        </p:txBody>
      </p:sp>
      <p:sp>
        <p:nvSpPr>
          <p:cNvPr id="10" name="Shape 8"/>
          <p:cNvSpPr/>
          <p:nvPr/>
        </p:nvSpPr>
        <p:spPr>
          <a:xfrm>
            <a:off x="6162675" y="4178939"/>
            <a:ext cx="2540000" cy="1659890"/>
          </a:xfrm>
          <a:prstGeom prst="rect">
            <a:avLst/>
          </a:prstGeom>
          <a:solidFill>
            <a:srgbClr val="1A1414"/>
          </a:solidFill>
          <a:ln w="6350">
            <a:solidFill>
              <a:srgbClr val="3A2A2A"/>
            </a:solidFill>
            <a:prstDash val="solid"/>
          </a:ln>
        </p:spPr>
      </p:sp>
      <p:sp>
        <p:nvSpPr>
          <p:cNvPr id="11" name="Text 9"/>
          <p:cNvSpPr/>
          <p:nvPr/>
        </p:nvSpPr>
        <p:spPr>
          <a:xfrm>
            <a:off x="6393180" y="4396742"/>
            <a:ext cx="2141360" cy="736600"/>
          </a:xfrm>
          <a:prstGeom prst="rect">
            <a:avLst/>
          </a:prstGeom>
          <a:noFill/>
          <a:ln/>
        </p:spPr>
        <p:txBody>
          <a:bodyPr wrap="square" lIns="0" tIns="0" rIns="0" bIns="0" rtlCol="0" anchor="t">
            <a:normAutofit/>
          </a:bodyPr>
          <a:lstStyle/>
          <a:p>
            <a:pPr algn="l" indent="0" marL="0">
              <a:lnSpc>
                <a:spcPts val="5600"/>
              </a:lnSpc>
              <a:buNone/>
            </a:pPr>
            <a:r>
              <a:rPr lang="en-US" sz="5600" b="1" spc="-150" kern="0" dirty="0">
                <a:solidFill>
                  <a:srgbClr val="F1EFE9"/>
                </a:solidFill>
                <a:latin typeface="Bricolage Grotesque" pitchFamily="34" charset="0"/>
                <a:ea typeface="Bricolage Grotesque" pitchFamily="34" charset="-122"/>
                <a:cs typeface="Bricolage Grotesque" pitchFamily="34" charset="-120"/>
              </a:rPr>
              <a:t>3</a:t>
            </a:r>
            <a:endParaRPr lang="en-US" sz="5600" dirty="0"/>
          </a:p>
        </p:txBody>
      </p:sp>
      <p:sp>
        <p:nvSpPr>
          <p:cNvPr id="12" name="Text 10"/>
          <p:cNvSpPr/>
          <p:nvPr/>
        </p:nvSpPr>
        <p:spPr>
          <a:xfrm>
            <a:off x="6393180" y="5158742"/>
            <a:ext cx="214136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39A96"/>
                </a:solidFill>
                <a:latin typeface="Bricolage Grotesque" pitchFamily="34" charset="0"/>
                <a:ea typeface="Bricolage Grotesque" pitchFamily="34" charset="-122"/>
                <a:cs typeface="Bricolage Grotesque" pitchFamily="34" charset="-120"/>
              </a:rPr>
              <a:t>confidence labels</a:t>
            </a:r>
            <a:endParaRPr lang="en-US" sz="1400" dirty="0"/>
          </a:p>
        </p:txBody>
      </p:sp>
      <p:sp>
        <p:nvSpPr>
          <p:cNvPr id="13" name="Shape 11"/>
          <p:cNvSpPr/>
          <p:nvPr/>
        </p:nvSpPr>
        <p:spPr>
          <a:xfrm>
            <a:off x="8836025" y="4178939"/>
            <a:ext cx="2540000" cy="1659890"/>
          </a:xfrm>
          <a:prstGeom prst="rect">
            <a:avLst/>
          </a:prstGeom>
          <a:solidFill>
            <a:srgbClr val="1A1414"/>
          </a:solidFill>
          <a:ln w="6350">
            <a:solidFill>
              <a:srgbClr val="3A2A2A"/>
            </a:solidFill>
            <a:prstDash val="solid"/>
          </a:ln>
        </p:spPr>
      </p:sp>
      <p:sp>
        <p:nvSpPr>
          <p:cNvPr id="14" name="Text 12"/>
          <p:cNvSpPr/>
          <p:nvPr/>
        </p:nvSpPr>
        <p:spPr>
          <a:xfrm>
            <a:off x="9066530" y="4396742"/>
            <a:ext cx="2141360" cy="736600"/>
          </a:xfrm>
          <a:prstGeom prst="rect">
            <a:avLst/>
          </a:prstGeom>
          <a:noFill/>
          <a:ln/>
        </p:spPr>
        <p:txBody>
          <a:bodyPr wrap="square" lIns="0" tIns="0" rIns="0" bIns="0" rtlCol="0" anchor="t">
            <a:normAutofit/>
          </a:bodyPr>
          <a:lstStyle/>
          <a:p>
            <a:pPr algn="l" indent="0" marL="0">
              <a:lnSpc>
                <a:spcPts val="5600"/>
              </a:lnSpc>
              <a:buNone/>
            </a:pPr>
            <a:r>
              <a:rPr lang="en-US" sz="5600" b="1" spc="-150" kern="0" dirty="0">
                <a:solidFill>
                  <a:srgbClr val="F1EFE9"/>
                </a:solidFill>
                <a:latin typeface="Bricolage Grotesque" pitchFamily="34" charset="0"/>
                <a:ea typeface="Bricolage Grotesque" pitchFamily="34" charset="-122"/>
                <a:cs typeface="Bricolage Grotesque" pitchFamily="34" charset="-120"/>
              </a:rPr>
              <a:t>397</a:t>
            </a:r>
            <a:endParaRPr lang="en-US" sz="5600" dirty="0"/>
          </a:p>
        </p:txBody>
      </p:sp>
      <p:sp>
        <p:nvSpPr>
          <p:cNvPr id="15" name="Text 13"/>
          <p:cNvSpPr/>
          <p:nvPr/>
        </p:nvSpPr>
        <p:spPr>
          <a:xfrm>
            <a:off x="9066530" y="5158742"/>
            <a:ext cx="2141360"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A39A96"/>
                </a:solidFill>
                <a:latin typeface="Bricolage Grotesque" pitchFamily="34" charset="0"/>
                <a:ea typeface="Bricolage Grotesque" pitchFamily="34" charset="-122"/>
                <a:cs typeface="Bricolage Grotesque" pitchFamily="34" charset="-120"/>
              </a:rPr>
              <a:t>decisions logged</a:t>
            </a:r>
            <a:endParaRPr lang="en-US" sz="1400" dirty="0"/>
          </a:p>
        </p:txBody>
      </p:sp>
      <p:pic>
        <p:nvPicPr>
          <p:cNvPr id="16" name="Image 0" descr="AIdea pulse mark">    </p:cNvPr>
          <p:cNvPicPr>
            <a:picLocks noChangeAspect="1"/>
          </p:cNvPicPr>
          <p:nvPr/>
        </p:nvPicPr>
        <p:blipFill>
          <a:blip r:embed="rId1"/>
          <a:srcRect l="0" r="0" t="0" b="0"/>
          <a:stretch/>
        </p:blipFill>
        <p:spPr>
          <a:xfrm>
            <a:off x="812800" y="6248400"/>
            <a:ext cx="457200" cy="254000"/>
          </a:xfrm>
          <a:prstGeom prst="rect">
            <a:avLst/>
          </a:prstGeom>
        </p:spPr>
      </p:pic>
      <p:sp>
        <p:nvSpPr>
          <p:cNvPr id="17" name="Text 14"/>
          <p:cNvSpPr/>
          <p:nvPr/>
        </p:nvSpPr>
        <p:spPr>
          <a:xfrm>
            <a:off x="13716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A39A96"/>
                </a:solidFill>
                <a:latin typeface="IBM Plex Mono" pitchFamily="49" charset="0"/>
                <a:ea typeface="IBM Plex Mono" pitchFamily="49" charset="-122"/>
                <a:cs typeface="IBM Plex Mono" pitchFamily="49" charset="-120"/>
              </a:rPr>
              <a:t>AIDEA · written from sources only, approved by a person</a:t>
            </a:r>
            <a:endParaRPr lang="en-US" sz="1200" dirty="0"/>
          </a:p>
        </p:txBody>
      </p:sp>
      <p:sp>
        <p:nvSpPr>
          <p:cNvPr id="18"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326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0E0B0B"/>
                </a:solidFill>
                <a:latin typeface="IBM Plex Mono" pitchFamily="49" charset="0"/>
                <a:ea typeface="IBM Plex Mono" pitchFamily="49" charset="-122"/>
                <a:cs typeface="IBM Plex Mono" pitchFamily="49" charset="-120"/>
              </a:rPr>
              <a:t>THE DIFFERENCE</a:t>
            </a:r>
            <a:endParaRPr lang="en-US" sz="1200" dirty="0"/>
          </a:p>
        </p:txBody>
      </p:sp>
      <p:sp>
        <p:nvSpPr>
          <p:cNvPr id="3" name="Text 1"/>
          <p:cNvSpPr/>
          <p:nvPr/>
        </p:nvSpPr>
        <p:spPr>
          <a:xfrm>
            <a:off x="812800" y="1280164"/>
            <a:ext cx="10883392" cy="1098232"/>
          </a:xfrm>
          <a:prstGeom prst="rect">
            <a:avLst/>
          </a:prstGeom>
          <a:noFill/>
          <a:ln/>
        </p:spPr>
        <p:txBody>
          <a:bodyPr wrap="square" lIns="0" tIns="0" rIns="0" bIns="0" rtlCol="0" anchor="t">
            <a:normAutofit/>
          </a:bodyPr>
          <a:lstStyle/>
          <a:p>
            <a:pPr algn="l" indent="0" marL="0">
              <a:lnSpc>
                <a:spcPts val="8448"/>
              </a:lnSpc>
              <a:buNone/>
            </a:pPr>
            <a:r>
              <a:rPr lang="en-US" sz="8800" b="1" spc="-350" kern="0" dirty="0">
                <a:solidFill>
                  <a:srgbClr val="5A0E12"/>
                </a:solidFill>
                <a:latin typeface="Bricolage Grotesque" pitchFamily="34" charset="0"/>
                <a:ea typeface="Bricolage Grotesque" pitchFamily="34" charset="-122"/>
                <a:cs typeface="Bricolage Grotesque" pitchFamily="34" charset="-120"/>
              </a:rPr>
              <a:t>6.5 hours of reading.</a:t>
            </a:r>
            <a:endParaRPr lang="en-US" sz="8800" dirty="0"/>
          </a:p>
        </p:txBody>
      </p:sp>
      <p:sp>
        <p:nvSpPr>
          <p:cNvPr id="4" name="Text 2"/>
          <p:cNvSpPr/>
          <p:nvPr/>
        </p:nvSpPr>
        <p:spPr>
          <a:xfrm>
            <a:off x="812800" y="2606991"/>
            <a:ext cx="11379200" cy="1098232"/>
          </a:xfrm>
          <a:prstGeom prst="rect">
            <a:avLst/>
          </a:prstGeom>
          <a:noFill/>
          <a:ln/>
        </p:spPr>
        <p:txBody>
          <a:bodyPr wrap="square" lIns="0" tIns="0" rIns="0" bIns="0" rtlCol="0" anchor="t">
            <a:normAutofit/>
          </a:bodyPr>
          <a:lstStyle/>
          <a:p>
            <a:pPr algn="l" indent="0" marL="0">
              <a:lnSpc>
                <a:spcPts val="8448"/>
              </a:lnSpc>
              <a:buNone/>
            </a:pPr>
            <a:r>
              <a:rPr lang="en-US" sz="8800" b="1" spc="-350" kern="0" dirty="0">
                <a:solidFill>
                  <a:srgbClr val="0E0B0B"/>
                </a:solidFill>
                <a:latin typeface="Bricolage Grotesque" pitchFamily="34" charset="0"/>
                <a:ea typeface="Bricolage Grotesque" pitchFamily="34" charset="-122"/>
                <a:cs typeface="Bricolage Grotesque" pitchFamily="34" charset="-120"/>
              </a:rPr>
              <a:t>98 minutes of listening.</a:t>
            </a:r>
            <a:endParaRPr lang="en-US" sz="8800" dirty="0"/>
          </a:p>
        </p:txBody>
      </p:sp>
      <p:sp>
        <p:nvSpPr>
          <p:cNvPr id="5" name="Text 3"/>
          <p:cNvSpPr/>
          <p:nvPr/>
        </p:nvSpPr>
        <p:spPr>
          <a:xfrm>
            <a:off x="812800" y="5492750"/>
            <a:ext cx="9156700"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0E0B0B"/>
                </a:solidFill>
                <a:latin typeface="Bricolage Grotesque" pitchFamily="34" charset="0"/>
                <a:ea typeface="Bricolage Grotesque" pitchFamily="34" charset="-122"/>
                <a:cs typeface="Bricolage Grotesque" pitchFamily="34" charset="-120"/>
              </a:rPr>
              <a:t>Same five days. Same 73 stories.</a:t>
            </a:r>
            <a:endParaRPr lang="en-US" sz="2200" dirty="0"/>
          </a:p>
        </p:txBody>
      </p:sp>
      <p:pic>
        <p:nvPicPr>
          <p:cNvPr id="6" name="Image 0" descr="AIdea pulse mark">    </p:cNvPr>
          <p:cNvPicPr>
            <a:picLocks noChangeAspect="1"/>
          </p:cNvPicPr>
          <p:nvPr/>
        </p:nvPicPr>
        <p:blipFill>
          <a:blip r:embed="rId1"/>
          <a:srcRect l="0" r="0" t="0" b="0"/>
          <a:stretch/>
        </p:blipFill>
        <p:spPr>
          <a:xfrm>
            <a:off x="812800" y="6248400"/>
            <a:ext cx="457200" cy="254000"/>
          </a:xfrm>
          <a:prstGeom prst="rect">
            <a:avLst/>
          </a:prstGeom>
        </p:spPr>
      </p:pic>
      <p:sp>
        <p:nvSpPr>
          <p:cNvPr id="7" name="Text 4"/>
          <p:cNvSpPr/>
          <p:nvPr/>
        </p:nvSpPr>
        <p:spPr>
          <a:xfrm>
            <a:off x="13716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E0B0B"/>
                </a:solidFill>
                <a:latin typeface="IBM Plex Mono" pitchFamily="49" charset="0"/>
                <a:ea typeface="IBM Plex Mono" pitchFamily="49" charset="-122"/>
                <a:cs typeface="IBM Plex Mono" pitchFamily="49" charset="-120"/>
              </a:rPr>
              <a:t>AIDEA · our own figures, reading at 230 words a minute</a:t>
            </a:r>
            <a:endParaRPr lang="en-US" sz="1200" dirty="0"/>
          </a:p>
        </p:txBody>
      </p:sp>
      <p:sp>
        <p:nvSpPr>
          <p:cNvPr id="8" name="Text 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E0B0B"/>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0B0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300" kern="0" dirty="0">
                <a:solidFill>
                  <a:srgbClr val="FF2B33"/>
                </a:solidFill>
                <a:latin typeface="IBM Plex Mono" pitchFamily="49" charset="0"/>
                <a:ea typeface="IBM Plex Mono" pitchFamily="49" charset="-122"/>
                <a:cs typeface="IBM Plex Mono" pitchFamily="49" charset="-120"/>
              </a:rPr>
              <a:t>ROADMAP</a:t>
            </a:r>
            <a:endParaRPr lang="en-US" sz="1200" dirty="0"/>
          </a:p>
        </p:txBody>
      </p:sp>
      <p:sp>
        <p:nvSpPr>
          <p:cNvPr id="3" name="Text 1"/>
          <p:cNvSpPr/>
          <p:nvPr>
            <p:ph type="title"/>
          </p:nvPr>
        </p:nvSpPr>
        <p:spPr>
          <a:xfrm>
            <a:off x="812800" y="1330964"/>
            <a:ext cx="10203180" cy="736600"/>
          </a:xfrm>
          <a:prstGeom prst="rect">
            <a:avLst/>
          </a:prstGeom>
          <a:noFill/>
          <a:ln/>
        </p:spPr>
        <p:txBody>
          <a:bodyPr wrap="square" lIns="0" tIns="0" rIns="0" bIns="0" rtlCol="0" anchor="t">
            <a:normAutofit/>
          </a:bodyPr>
          <a:lstStyle/>
          <a:p>
            <a:pPr algn="l" indent="0" marL="0">
              <a:lnSpc>
                <a:spcPts val="5600"/>
              </a:lnSpc>
              <a:buNone/>
            </a:pPr>
            <a:r>
              <a:rPr lang="en-US" sz="5600" b="1" i="0" spc="-150" kern="0" dirty="0">
                <a:solidFill>
                  <a:srgbClr val="F1EFE9"/>
                </a:solidFill>
                <a:latin typeface="Bricolage Grotesque" pitchFamily="34" charset="0"/>
                <a:ea typeface="Bricolage Grotesque" pitchFamily="34" charset="-122"/>
                <a:cs typeface="Bricolage Grotesque" pitchFamily="34" charset="-120"/>
              </a:rPr>
              <a:t>Now. Next. Later.</a:t>
            </a:r>
            <a:endParaRPr lang="en-US" sz="5600" dirty="0"/>
          </a:p>
        </p:txBody>
      </p:sp>
      <p:sp>
        <p:nvSpPr>
          <p:cNvPr id="4" name="Shape 2"/>
          <p:cNvSpPr/>
          <p:nvPr/>
        </p:nvSpPr>
        <p:spPr>
          <a:xfrm>
            <a:off x="812800" y="3992879"/>
            <a:ext cx="3396774" cy="1849120"/>
          </a:xfrm>
          <a:prstGeom prst="rect">
            <a:avLst/>
          </a:prstGeom>
          <a:solidFill>
            <a:srgbClr val="F1EFE9"/>
          </a:solidFill>
          <a:ln/>
        </p:spPr>
      </p:sp>
      <p:sp>
        <p:nvSpPr>
          <p:cNvPr id="5" name="Text 3"/>
          <p:cNvSpPr/>
          <p:nvPr/>
        </p:nvSpPr>
        <p:spPr>
          <a:xfrm>
            <a:off x="1066800" y="4221479"/>
            <a:ext cx="2975437" cy="223520"/>
          </a:xfrm>
          <a:prstGeom prst="rect">
            <a:avLst/>
          </a:prstGeom>
          <a:noFill/>
          <a:ln/>
        </p:spPr>
        <p:txBody>
          <a:bodyPr wrap="square" lIns="0" tIns="0" rIns="0" bIns="0" rtlCol="0" anchor="t">
            <a:normAutofit/>
          </a:bodyPr>
          <a:lstStyle/>
          <a:p>
            <a:pPr algn="l" indent="0" marL="0">
              <a:lnSpc>
                <a:spcPts val="1560"/>
              </a:lnSpc>
              <a:buNone/>
            </a:pPr>
            <a:r>
              <a:rPr lang="en-US" sz="1300" b="1" spc="250" kern="0" dirty="0">
                <a:solidFill>
                  <a:srgbClr val="B3121A"/>
                </a:solidFill>
                <a:latin typeface="IBM Plex Mono" pitchFamily="49" charset="0"/>
                <a:ea typeface="IBM Plex Mono" pitchFamily="49" charset="-122"/>
                <a:cs typeface="IBM Plex Mono" pitchFamily="49" charset="-120"/>
              </a:rPr>
              <a:t>NOW</a:t>
            </a:r>
            <a:endParaRPr lang="en-US" sz="1300" dirty="0"/>
          </a:p>
        </p:txBody>
      </p:sp>
      <p:sp>
        <p:nvSpPr>
          <p:cNvPr id="6" name="Text 4"/>
          <p:cNvSpPr/>
          <p:nvPr/>
        </p:nvSpPr>
        <p:spPr>
          <a:xfrm>
            <a:off x="1137158" y="4546600"/>
            <a:ext cx="2897459" cy="1082040"/>
          </a:xfrm>
          <a:prstGeom prst="rect">
            <a:avLst/>
          </a:prstGeom>
          <a:noFill/>
          <a:ln/>
        </p:spPr>
        <p:txBody>
          <a:bodyPr wrap="square" lIns="0" tIns="0" rIns="0" bIns="0" rtlCol="0" anchor="t">
            <a:normAutofit/>
          </a:bodyPr>
          <a:lstStyle/>
          <a:p>
            <a:pPr algn="l" marL="183642" indent="-183642">
              <a:lnSpc>
                <a:spcPts val="2080"/>
              </a:lnSpc>
              <a:buSzPct val="100000"/>
              <a:buChar char="•"/>
            </a:pPr>
            <a:r>
              <a:rPr lang="en-US" sz="1600" b="1" dirty="0">
                <a:solidFill>
                  <a:srgbClr val="0E0B0B"/>
                </a:solidFill>
                <a:latin typeface="Bricolage Grotesque" pitchFamily="34" charset="0"/>
                <a:ea typeface="Bricolage Grotesque" pitchFamily="34" charset="-122"/>
                <a:cs typeface="Bricolage Grotesque" pitchFamily="34" charset="-120"/>
              </a:rPr>
              <a:t>Daily AI briefing</a:t>
            </a:r>
            <a:endParaRPr lang="en-US" sz="1600" dirty="0"/>
          </a:p>
          <a:p>
            <a:pPr algn="l" marL="183642" indent="-183642">
              <a:lnSpc>
                <a:spcPts val="2080"/>
              </a:lnSpc>
              <a:buSzPct val="100000"/>
              <a:buChar char="•"/>
            </a:pPr>
            <a:r>
              <a:rPr lang="en-US" sz="1600" b="1" dirty="0">
                <a:solidFill>
                  <a:srgbClr val="0E0B0B"/>
                </a:solidFill>
                <a:latin typeface="Bricolage Grotesque" pitchFamily="34" charset="0"/>
                <a:ea typeface="Bricolage Grotesque" pitchFamily="34" charset="-122"/>
                <a:cs typeface="Bricolage Grotesque" pitchFamily="34" charset="-120"/>
              </a:rPr>
              <a:t>41 sources</a:t>
            </a:r>
            <a:endParaRPr lang="en-US" sz="1600" dirty="0"/>
          </a:p>
          <a:p>
            <a:pPr algn="l" marL="183642" indent="-183642">
              <a:lnSpc>
                <a:spcPts val="2080"/>
              </a:lnSpc>
              <a:buSzPct val="100000"/>
              <a:buChar char="•"/>
            </a:pPr>
            <a:r>
              <a:rPr lang="en-US" sz="1600" b="1" dirty="0">
                <a:solidFill>
                  <a:srgbClr val="0E0B0B"/>
                </a:solidFill>
                <a:latin typeface="Bricolage Grotesque" pitchFamily="34" charset="0"/>
                <a:ea typeface="Bricolage Grotesque" pitchFamily="34" charset="-122"/>
                <a:cs typeface="Bricolage Grotesque" pitchFamily="34" charset="-120"/>
              </a:rPr>
              <a:t>Source-checked script</a:t>
            </a:r>
            <a:endParaRPr lang="en-US" sz="1600" dirty="0"/>
          </a:p>
          <a:p>
            <a:pPr algn="l" marL="183642" indent="-183642">
              <a:lnSpc>
                <a:spcPts val="2080"/>
              </a:lnSpc>
              <a:buSzPct val="100000"/>
              <a:buChar char="•"/>
            </a:pPr>
            <a:r>
              <a:rPr lang="en-US" sz="1600" b="1" dirty="0">
                <a:solidFill>
                  <a:srgbClr val="0E0B0B"/>
                </a:solidFill>
                <a:latin typeface="Bricolage Grotesque" pitchFamily="34" charset="0"/>
                <a:ea typeface="Bricolage Grotesque" pitchFamily="34" charset="-122"/>
                <a:cs typeface="Bricolage Grotesque" pitchFamily="34" charset="-120"/>
              </a:rPr>
              <a:t>Audio and newsletter</a:t>
            </a:r>
            <a:endParaRPr lang="en-US" sz="1600" dirty="0"/>
          </a:p>
        </p:txBody>
      </p:sp>
      <p:sp>
        <p:nvSpPr>
          <p:cNvPr id="7" name="Shape 5"/>
          <p:cNvSpPr/>
          <p:nvPr/>
        </p:nvSpPr>
        <p:spPr>
          <a:xfrm>
            <a:off x="4390549" y="3996054"/>
            <a:ext cx="3400663" cy="1842770"/>
          </a:xfrm>
          <a:prstGeom prst="rect">
            <a:avLst/>
          </a:prstGeom>
          <a:solidFill>
            <a:srgbClr val="1A1414"/>
          </a:solidFill>
          <a:ln w="6350">
            <a:solidFill>
              <a:srgbClr val="FF2B33"/>
            </a:solidFill>
            <a:prstDash val="solid"/>
          </a:ln>
        </p:spPr>
      </p:sp>
      <p:sp>
        <p:nvSpPr>
          <p:cNvPr id="8" name="Text 6"/>
          <p:cNvSpPr/>
          <p:nvPr/>
        </p:nvSpPr>
        <p:spPr>
          <a:xfrm>
            <a:off x="4646454" y="4226564"/>
            <a:ext cx="2975519" cy="223520"/>
          </a:xfrm>
          <a:prstGeom prst="rect">
            <a:avLst/>
          </a:prstGeom>
          <a:noFill/>
          <a:ln/>
        </p:spPr>
        <p:txBody>
          <a:bodyPr wrap="square" lIns="0" tIns="0" rIns="0" bIns="0" rtlCol="0" anchor="t">
            <a:normAutofit/>
          </a:bodyPr>
          <a:lstStyle/>
          <a:p>
            <a:pPr algn="l" indent="0" marL="0">
              <a:lnSpc>
                <a:spcPts val="1560"/>
              </a:lnSpc>
              <a:buNone/>
            </a:pPr>
            <a:r>
              <a:rPr lang="en-US" sz="1300" b="1" spc="250" kern="0" dirty="0">
                <a:solidFill>
                  <a:srgbClr val="FF2B33"/>
                </a:solidFill>
                <a:latin typeface="IBM Plex Mono" pitchFamily="49" charset="0"/>
                <a:ea typeface="IBM Plex Mono" pitchFamily="49" charset="-122"/>
                <a:cs typeface="IBM Plex Mono" pitchFamily="49" charset="-120"/>
              </a:rPr>
              <a:t>NEXT</a:t>
            </a:r>
            <a:endParaRPr lang="en-US" sz="1300" dirty="0"/>
          </a:p>
        </p:txBody>
      </p:sp>
      <p:sp>
        <p:nvSpPr>
          <p:cNvPr id="9" name="Text 7"/>
          <p:cNvSpPr/>
          <p:nvPr/>
        </p:nvSpPr>
        <p:spPr>
          <a:xfrm>
            <a:off x="4716812" y="4551679"/>
            <a:ext cx="2897541" cy="1082040"/>
          </a:xfrm>
          <a:prstGeom prst="rect">
            <a:avLst/>
          </a:prstGeom>
          <a:noFill/>
          <a:ln/>
        </p:spPr>
        <p:txBody>
          <a:bodyPr wrap="square" lIns="0" tIns="0" rIns="0" bIns="0" rtlCol="0" anchor="t">
            <a:normAutofit/>
          </a:bodyPr>
          <a:lstStyle/>
          <a:p>
            <a:pPr algn="l" marL="183642" indent="-183642">
              <a:lnSpc>
                <a:spcPts val="2080"/>
              </a:lnSpc>
              <a:buSzPct val="100000"/>
              <a:buChar char="•"/>
            </a:pPr>
            <a:r>
              <a:rPr lang="en-US" sz="1600" b="1" dirty="0">
                <a:solidFill>
                  <a:srgbClr val="F1EFE9"/>
                </a:solidFill>
                <a:latin typeface="Bricolage Grotesque" pitchFamily="34" charset="0"/>
                <a:ea typeface="Bricolage Grotesque" pitchFamily="34" charset="-122"/>
                <a:cs typeface="Bricolage Grotesque" pitchFamily="34" charset="-120"/>
              </a:rPr>
              <a:t>Spotify and Amazon Music</a:t>
            </a:r>
            <a:endParaRPr lang="en-US" sz="1600" dirty="0"/>
          </a:p>
          <a:p>
            <a:pPr algn="l" marL="183642" indent="-183642">
              <a:lnSpc>
                <a:spcPts val="2080"/>
              </a:lnSpc>
              <a:buSzPct val="100000"/>
              <a:buChar char="•"/>
            </a:pPr>
            <a:r>
              <a:rPr lang="en-US" sz="1600" b="1" dirty="0">
                <a:solidFill>
                  <a:srgbClr val="F1EFE9"/>
                </a:solidFill>
                <a:latin typeface="Bricolage Grotesque" pitchFamily="34" charset="0"/>
                <a:ea typeface="Bricolage Grotesque" pitchFamily="34" charset="-122"/>
                <a:cs typeface="Bricolage Grotesque" pitchFamily="34" charset="-120"/>
              </a:rPr>
              <a:t>A host and a guest</a:t>
            </a:r>
            <a:endParaRPr lang="en-US" sz="1600" dirty="0"/>
          </a:p>
          <a:p>
            <a:pPr algn="l" marL="183642" indent="-183642">
              <a:lnSpc>
                <a:spcPts val="2080"/>
              </a:lnSpc>
              <a:buSzPct val="100000"/>
              <a:buChar char="•"/>
            </a:pPr>
            <a:r>
              <a:rPr lang="en-US" sz="1600" b="1" dirty="0">
                <a:solidFill>
                  <a:srgbClr val="F1EFE9"/>
                </a:solidFill>
                <a:latin typeface="Bricolage Grotesque" pitchFamily="34" charset="0"/>
                <a:ea typeface="Bricolage Grotesque" pitchFamily="34" charset="-122"/>
                <a:cs typeface="Bricolage Grotesque" pitchFamily="34" charset="-120"/>
              </a:rPr>
              <a:t>More sources</a:t>
            </a:r>
            <a:endParaRPr lang="en-US" sz="1600" dirty="0"/>
          </a:p>
          <a:p>
            <a:pPr algn="l" marL="183642" indent="-183642">
              <a:lnSpc>
                <a:spcPts val="2080"/>
              </a:lnSpc>
              <a:buSzPct val="100000"/>
              <a:buChar char="•"/>
            </a:pPr>
            <a:r>
              <a:rPr lang="en-US" sz="1600" b="1" dirty="0">
                <a:solidFill>
                  <a:srgbClr val="F1EFE9"/>
                </a:solidFill>
                <a:latin typeface="Bricolage Grotesque" pitchFamily="34" charset="0"/>
                <a:ea typeface="Bricolage Grotesque" pitchFamily="34" charset="-122"/>
                <a:cs typeface="Bricolage Grotesque" pitchFamily="34" charset="-120"/>
              </a:rPr>
              <a:t>A scored quality set</a:t>
            </a:r>
            <a:endParaRPr lang="en-US" sz="1600" dirty="0"/>
          </a:p>
        </p:txBody>
      </p:sp>
      <p:sp>
        <p:nvSpPr>
          <p:cNvPr id="10" name="Shape 8"/>
          <p:cNvSpPr/>
          <p:nvPr/>
        </p:nvSpPr>
        <p:spPr>
          <a:xfrm>
            <a:off x="7975362" y="3996054"/>
            <a:ext cx="3400663" cy="1842770"/>
          </a:xfrm>
          <a:prstGeom prst="rect">
            <a:avLst/>
          </a:prstGeom>
          <a:solidFill>
            <a:srgbClr val="1A1414"/>
          </a:solidFill>
          <a:ln w="6350">
            <a:solidFill>
              <a:srgbClr val="3A2A2A"/>
            </a:solidFill>
            <a:prstDash val="solid"/>
          </a:ln>
        </p:spPr>
      </p:sp>
      <p:sp>
        <p:nvSpPr>
          <p:cNvPr id="11" name="Text 9"/>
          <p:cNvSpPr/>
          <p:nvPr/>
        </p:nvSpPr>
        <p:spPr>
          <a:xfrm>
            <a:off x="8231267" y="4226564"/>
            <a:ext cx="2975519" cy="223520"/>
          </a:xfrm>
          <a:prstGeom prst="rect">
            <a:avLst/>
          </a:prstGeom>
          <a:noFill/>
          <a:ln/>
        </p:spPr>
        <p:txBody>
          <a:bodyPr wrap="square" lIns="0" tIns="0" rIns="0" bIns="0" rtlCol="0" anchor="t">
            <a:normAutofit/>
          </a:bodyPr>
          <a:lstStyle/>
          <a:p>
            <a:pPr algn="l" indent="0" marL="0">
              <a:lnSpc>
                <a:spcPts val="1560"/>
              </a:lnSpc>
              <a:buNone/>
            </a:pPr>
            <a:r>
              <a:rPr lang="en-US" sz="1300" b="1" spc="250" kern="0" dirty="0">
                <a:solidFill>
                  <a:srgbClr val="A39A96"/>
                </a:solidFill>
                <a:latin typeface="IBM Plex Mono" pitchFamily="49" charset="0"/>
                <a:ea typeface="IBM Plex Mono" pitchFamily="49" charset="-122"/>
                <a:cs typeface="IBM Plex Mono" pitchFamily="49" charset="-120"/>
              </a:rPr>
              <a:t>LATER</a:t>
            </a:r>
            <a:endParaRPr lang="en-US" sz="1300" dirty="0"/>
          </a:p>
        </p:txBody>
      </p:sp>
      <p:sp>
        <p:nvSpPr>
          <p:cNvPr id="12" name="Text 10"/>
          <p:cNvSpPr/>
          <p:nvPr/>
        </p:nvSpPr>
        <p:spPr>
          <a:xfrm>
            <a:off x="8301625" y="4551679"/>
            <a:ext cx="2897541" cy="553720"/>
          </a:xfrm>
          <a:prstGeom prst="rect">
            <a:avLst/>
          </a:prstGeom>
          <a:noFill/>
          <a:ln/>
        </p:spPr>
        <p:txBody>
          <a:bodyPr wrap="square" lIns="0" tIns="0" rIns="0" bIns="0" rtlCol="0" anchor="t">
            <a:normAutofit/>
          </a:bodyPr>
          <a:lstStyle/>
          <a:p>
            <a:pPr algn="l" marL="183642" indent="-183642">
              <a:lnSpc>
                <a:spcPts val="2080"/>
              </a:lnSpc>
              <a:buSzPct val="100000"/>
              <a:buChar char="•"/>
            </a:pPr>
            <a:r>
              <a:rPr lang="en-US" sz="1600" b="1" dirty="0">
                <a:solidFill>
                  <a:srgbClr val="A39A96"/>
                </a:solidFill>
                <a:latin typeface="Bricolage Grotesque" pitchFamily="34" charset="0"/>
                <a:ea typeface="Bricolage Grotesque" pitchFamily="34" charset="-122"/>
                <a:cs typeface="Bricolage Grotesque" pitchFamily="34" charset="-120"/>
              </a:rPr>
              <a:t>Personal briefings</a:t>
            </a:r>
            <a:endParaRPr lang="en-US" sz="1600" dirty="0"/>
          </a:p>
          <a:p>
            <a:pPr algn="l" marL="183642" indent="-183642">
              <a:lnSpc>
                <a:spcPts val="2080"/>
              </a:lnSpc>
              <a:buSzPct val="100000"/>
              <a:buChar char="•"/>
            </a:pPr>
            <a:r>
              <a:rPr lang="en-US" sz="1600" b="1" dirty="0">
                <a:solidFill>
                  <a:srgbClr val="A39A96"/>
                </a:solidFill>
                <a:latin typeface="Bricolage Grotesque" pitchFamily="34" charset="0"/>
                <a:ea typeface="Bricolage Grotesque" pitchFamily="34" charset="-122"/>
                <a:cs typeface="Bricolage Grotesque" pitchFamily="34" charset="-120"/>
              </a:rPr>
              <a:t>Fields beyond AI</a:t>
            </a:r>
            <a:endParaRPr lang="en-US" sz="1600" dirty="0"/>
          </a:p>
        </p:txBody>
      </p:sp>
      <p:pic>
        <p:nvPicPr>
          <p:cNvPr id="13" name="Image 0" descr="AIdea pulse mark">    </p:cNvPr>
          <p:cNvPicPr>
            <a:picLocks noChangeAspect="1"/>
          </p:cNvPicPr>
          <p:nvPr/>
        </p:nvPicPr>
        <p:blipFill>
          <a:blip r:embed="rId1"/>
          <a:srcRect l="0" r="0" t="0" b="0"/>
          <a:stretch/>
        </p:blipFill>
        <p:spPr>
          <a:xfrm>
            <a:off x="812800" y="6248400"/>
            <a:ext cx="457200" cy="254000"/>
          </a:xfrm>
          <a:prstGeom prst="rect">
            <a:avLst/>
          </a:prstGeom>
        </p:spPr>
      </p:pic>
      <p:sp>
        <p:nvSpPr>
          <p:cNvPr id="14" name="Text 11"/>
          <p:cNvSpPr/>
          <p:nvPr/>
        </p:nvSpPr>
        <p:spPr>
          <a:xfrm>
            <a:off x="1371600" y="6238242"/>
            <a:ext cx="2616200"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A39A96"/>
                </a:solidFill>
                <a:latin typeface="IBM Plex Mono" pitchFamily="49" charset="0"/>
                <a:ea typeface="IBM Plex Mono" pitchFamily="49" charset="-122"/>
                <a:cs typeface="IBM Plex Mono" pitchFamily="49" charset="-120"/>
              </a:rPr>
              <a:t>AIDEA</a:t>
            </a:r>
            <a:endParaRPr lang="en-US" sz="1200" dirty="0"/>
          </a:p>
        </p:txBody>
      </p:sp>
      <p:sp>
        <p:nvSpPr>
          <p:cNvPr id="15"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9A96"/>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0B0B"/>
        </a:solidFill>
      </p:bgPr>
    </p:bg>
    <p:spTree>
      <p:nvGrpSpPr>
        <p:cNvPr id="1" name=""/>
        <p:cNvGrpSpPr/>
        <p:nvPr/>
      </p:nvGrpSpPr>
      <p:grpSpPr>
        <a:xfrm>
          <a:off x="0" y="0"/>
          <a:ext cx="0" cy="0"/>
          <a:chOff x="0" y="0"/>
          <a:chExt cx="0" cy="0"/>
        </a:xfrm>
      </p:grpSpPr>
      <p:pic>
        <p:nvPicPr>
          <p:cNvPr id="2" name="Image 0" descr="AIdea logo: a red heartbeat line that spells A and I, followed by the letters d, e, a in white">    </p:cNvPr>
          <p:cNvPicPr>
            <a:picLocks noChangeAspect="1"/>
          </p:cNvPicPr>
          <p:nvPr/>
        </p:nvPicPr>
        <p:blipFill>
          <a:blip r:embed="rId1"/>
          <a:srcRect l="0" r="0" t="0" b="0"/>
          <a:stretch/>
        </p:blipFill>
        <p:spPr>
          <a:xfrm>
            <a:off x="4699000" y="1464314"/>
            <a:ext cx="2794000" cy="2794000"/>
          </a:xfrm>
          <a:prstGeom prst="rect">
            <a:avLst/>
          </a:prstGeom>
        </p:spPr>
      </p:pic>
      <p:sp>
        <p:nvSpPr>
          <p:cNvPr id="3" name="Text 0"/>
          <p:cNvSpPr/>
          <p:nvPr>
            <p:ph type="title"/>
          </p:nvPr>
        </p:nvSpPr>
        <p:spPr>
          <a:xfrm>
            <a:off x="1190625" y="4258314"/>
            <a:ext cx="9810750" cy="863600"/>
          </a:xfrm>
          <a:prstGeom prst="rect">
            <a:avLst/>
          </a:prstGeom>
          <a:noFill/>
          <a:ln/>
        </p:spPr>
        <p:txBody>
          <a:bodyPr wrap="square" lIns="0" tIns="0" rIns="0" bIns="0" rtlCol="0" anchor="t">
            <a:normAutofit/>
          </a:bodyPr>
          <a:lstStyle/>
          <a:p>
            <a:pPr algn="ctr" indent="0" marL="0">
              <a:lnSpc>
                <a:spcPts val="6600"/>
              </a:lnSpc>
              <a:buNone/>
            </a:pPr>
            <a:r>
              <a:rPr lang="en-US" sz="6600" b="1" i="0" spc="-250" kern="0" dirty="0">
                <a:solidFill>
                  <a:srgbClr val="F1EFE9"/>
                </a:solidFill>
                <a:latin typeface="Bricolage Grotesque" pitchFamily="34" charset="0"/>
                <a:ea typeface="Bricolage Grotesque" pitchFamily="34" charset="-122"/>
                <a:cs typeface="Bricolage Grotesque" pitchFamily="34" charset="-120"/>
              </a:rPr>
              <a:t>Less noise. </a:t>
            </a:r>
            <a:r>
              <a:rPr lang="en-US" sz="6600" b="1" i="0" spc="-250" kern="0" dirty="0">
                <a:solidFill>
                  <a:srgbClr val="FF2B33"/>
                </a:solidFill>
                <a:latin typeface="Bricolage Grotesque" pitchFamily="34" charset="0"/>
                <a:ea typeface="Bricolage Grotesque" pitchFamily="34" charset="-122"/>
                <a:cs typeface="Bricolage Grotesque" pitchFamily="34" charset="-120"/>
              </a:rPr>
              <a:t>More signal.</a:t>
            </a:r>
            <a:endParaRPr lang="en-US" sz="6600" dirty="0"/>
          </a:p>
        </p:txBody>
      </p:sp>
      <p:sp>
        <p:nvSpPr>
          <p:cNvPr id="4" name="Text 1"/>
          <p:cNvSpPr/>
          <p:nvPr/>
        </p:nvSpPr>
        <p:spPr>
          <a:xfrm>
            <a:off x="1844675" y="5096514"/>
            <a:ext cx="8502650" cy="322580"/>
          </a:xfrm>
          <a:prstGeom prst="rect">
            <a:avLst/>
          </a:prstGeom>
          <a:noFill/>
          <a:ln/>
        </p:spPr>
        <p:txBody>
          <a:bodyPr wrap="square" lIns="0" tIns="0" rIns="0" bIns="0" rtlCol="0" anchor="t">
            <a:normAutofit/>
          </a:bodyPr>
          <a:lstStyle/>
          <a:p>
            <a:pPr algn="ctr" indent="0" marL="0">
              <a:lnSpc>
                <a:spcPts val="2340"/>
              </a:lnSpc>
              <a:buNone/>
            </a:pPr>
            <a:r>
              <a:rPr lang="en-US" sz="1800" dirty="0">
                <a:solidFill>
                  <a:srgbClr val="A39A96"/>
                </a:solidFill>
                <a:latin typeface="Bricolage Grotesque" pitchFamily="34" charset="0"/>
                <a:ea typeface="Bricolage Grotesque" pitchFamily="34" charset="-122"/>
                <a:cs typeface="Bricolage Grotesque" pitchFamily="34" charset="-120"/>
              </a:rPr>
              <a:t>Less time finding it. More time understanding what matters.</a:t>
            </a:r>
            <a:endParaRPr lang="en-US" sz="1800" dirty="0"/>
          </a:p>
        </p:txBody>
      </p:sp>
      <p:sp>
        <p:nvSpPr>
          <p:cNvPr id="5" name="Text 2"/>
          <p:cNvSpPr/>
          <p:nvPr/>
        </p:nvSpPr>
        <p:spPr>
          <a:xfrm>
            <a:off x="654304" y="6187442"/>
            <a:ext cx="10883392" cy="23876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A39A96"/>
                </a:solidFill>
                <a:latin typeface="IBM Plex Mono" pitchFamily="49" charset="0"/>
                <a:ea typeface="IBM Plex Mono" pitchFamily="49" charset="-122"/>
                <a:cs typeface="IBM Plex Mono" pitchFamily="49" charset="-120"/>
              </a:rPr>
              <a:t>[TEAM NAME] · [CONTACT OR LINK]</a:t>
            </a:r>
            <a:endParaRPr lang="en-US" sz="1200" dirty="0"/>
          </a:p>
        </p:txBody>
      </p:sp>
    </p:spTree>
  </p:cSld>
  <p:clrMapOvr>
    <a:masterClrMapping/>
  </p:clrMapOvr>
</p:sld>
</file>

<file path=ppt/theme/theme1.xml><?xml version="1.0" encoding="utf-8"?>
<a:theme xmlns:a="http://schemas.openxmlformats.org/drawingml/2006/main" name="AIdea Story Deck">
  <a:themeElements>
    <a:clrScheme name="AIdea Story Deck">
      <a:dk1>
        <a:srgbClr val="0E0B0B"/>
      </a:dk1>
      <a:lt1>
        <a:srgbClr val="F1EFE9"/>
      </a:lt1>
      <a:dk2>
        <a:srgbClr val="252221"/>
      </a:dk2>
      <a:lt2>
        <a:srgbClr val="B8B6B2"/>
      </a:lt2>
      <a:accent1>
        <a:srgbClr val="FF2B33"/>
      </a:accent1>
      <a:accent2>
        <a:srgbClr val="B3121A"/>
      </a:accent2>
      <a:accent3>
        <a:srgbClr val="E3262E"/>
      </a:accent3>
      <a:accent4>
        <a:srgbClr val="5A0E12"/>
      </a:accent4>
      <a:accent5>
        <a:srgbClr val="A39A96"/>
      </a:accent5>
      <a:accent6>
        <a:srgbClr val="2A2121"/>
      </a:accent6>
      <a:hlink>
        <a:srgbClr val="0563C1"/>
      </a:hlink>
      <a:folHlink>
        <a:srgbClr val="954F72"/>
      </a:folHlink>
    </a:clrScheme>
    <a:fontScheme name="AIdea Story Deck">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ricolage Grotesq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AIdea Story Deck</dc:title>
  <dc:subject/>
  <dc:creator/>
  <cp:lastModifiedBy/>
  <cp:revision>1</cp:revision>
  <dcterms:created xsi:type="dcterms:W3CDTF">2026-10-11T18:50:14Z</dcterms:created>
  <dcterms:modified xsi:type="dcterms:W3CDTF">2026-10-11T18:50:14Z</dcterms:modified>
</cp:coreProperties>
</file>