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logo sit for a moment. Then one line: this is AIdea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one ordinary day of AI news looks like. 7,459 entries across the 41 sources we follow. Counted on 11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 of 7,459, twelve stories mattered that day. Everything else was repeats, old news, or not about AI at all. That gap is the time people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if someone handed you the right twelve, reading the articles behind them takes about two hours. That is 29,018 words at a normal reading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twelve stories, in a fourteen-minute episode you can hear on the way to class or work. Pause after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product by name. AIdea Daily: the day's AI news, checked against its sources and read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every morning. An episode to listen to. A newsletter to read. And the source links for every story, so you can trust it. If there is time, play ten seconds of an episode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it different from asking a chatbot. The script is written only from the source articles, and every name and number in it is checked against them before it is spoken.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left to right. It gathers from 41 sources. An AI editor judges what matters. It writes the script from the source articles alone. And it speaks the result as a finished episode.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41 sources, a twelve-step pipeline, and one command that runs the whole thing from start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building blocks. Python runs the pipeline. SQLite keeps a record of every decision. Claude Sonnet 5.5 does the editing and writing. Chatterbox Turbo speaks it, running on our own machine. If a judge asks for more depth, this is the slide to stay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working software. It has run every day since 7 October and produced real episodes from real news. Offer to show the latest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goes from here. The show is headed to Spotify and Amazon Music. And the format grows from one narrator to a host and a guest in conversation, which we have already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promise: fourteen minutes and you are caught up on AI. Say thank you and leave this slide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0B0B"/>
        </a:solidFill>
      </p:bgPr>
    </p:bg>
    <p:spTree>
      <p:nvGrpSpPr>
        <p:cNvPr id="1" name=""/>
        <p:cNvGrpSpPr/>
        <p:nvPr/>
      </p:nvGrpSpPr>
      <p:grpSpPr>
        <a:xfrm>
          <a:off x="0" y="0"/>
          <a:ext cx="0" cy="0"/>
          <a:chOff x="0" y="0"/>
          <a:chExt cx="0" cy="0"/>
        </a:xfrm>
      </p:grpSpPr>
      <p:sp>
        <p:nvSpPr>
          <p:cNvPr id="2" name="Title Placeholder 1"/>
          <p:cNvSpPr/>
          <p:nvPr>
            <p:ph type="title"/>
          </p:nvPr>
        </p:nvSpPr>
        <p:spPr>
          <a:xfrm>
            <a:off x="1768515" y="2593340"/>
            <a:ext cx="8654971" cy="1832610"/>
          </a:xfrm>
          <a:prstGeom prst="rect">
            <a:avLst/>
          </a:prstGeom>
          <a:noFill/>
          <a:ln/>
        </p:spPr>
        <p:txBody>
          <a:bodyPr wrap="square" lIns="0" tIns="0" rIns="0" bIns="0" rtlCol="0" anchor="t"/>
          <a:lstStyle>
            <a:lvl1pPr algn="l" indent="0" marL="0">
              <a:lnSpc>
                <a:spcPct val="115000"/>
              </a:lnSpc>
              <a:buNone/>
              <a:defRPr lang="en-US" sz="12500" dirty="0">
                <a:solidFill>
                  <a:srgbClr val="F5F5F7"/>
                </a:solidFill>
                <a:latin typeface="Inter" pitchFamily="34" charset="0"/>
                <a:ea typeface="Inter" pitchFamily="34" charset="-122"/>
                <a:cs typeface="Inter" pitchFamily="34" charset="-120"/>
              </a:defRPr>
            </a:lvl1pPr>
          </a:lstStyle>
          <a:p>
            <a:pPr algn="l" indent="0" marL="0">
              <a:lnSpc>
                <a:spcPct val="115000"/>
              </a:lnSpc>
              <a:buNone/>
            </a:pPr>
            <a:endParaRPr lang="en-US" sz="12500" dirty="0"/>
          </a:p>
        </p:txBody>
      </p:sp>
      <p:sp>
        <p:nvSpPr>
          <p:cNvPr id="3" name="Text Placeholder 2"/>
          <p:cNvSpPr/>
          <p:nvPr>
            <p:ph idx="101" type="body"/>
          </p:nvPr>
        </p:nvSpPr>
        <p:spPr>
          <a:xfrm>
            <a:off x="1768515" y="812800"/>
            <a:ext cx="9610685" cy="1475740"/>
          </a:xfrm>
          <a:prstGeom prst="rect">
            <a:avLst/>
          </a:prstGeom>
          <a:noFill/>
          <a:ln/>
        </p:spPr>
        <p:txBody>
          <a:bodyPr wrap="square" lIns="0" tIns="0" rIns="0" bIns="0" rtlCol="0" anchor="t"/>
          <a:lstStyle>
            <a:lvl1pPr algn="l" indent="0" marL="0">
              <a:lnSpc>
                <a:spcPct val="140000"/>
              </a:lnSpc>
              <a:buNone/>
              <a:defRPr lang="en-US" sz="1600" dirty="0">
                <a:solidFill>
                  <a:srgbClr val="F5F5F7"/>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0B0B"/>
        </a:solidFill>
      </p:bgPr>
    </p:bg>
    <p:spTree>
      <p:nvGrpSpPr>
        <p:cNvPr id="1" name=""/>
        <p:cNvGrpSpPr/>
        <p:nvPr/>
      </p:nvGrpSpPr>
      <p:grpSpPr>
        <a:xfrm>
          <a:off x="0" y="0"/>
          <a:ext cx="0" cy="0"/>
          <a:chOff x="0" y="0"/>
          <a:chExt cx="0" cy="0"/>
        </a:xfrm>
      </p:grpSpPr>
      <p:sp>
        <p:nvSpPr>
          <p:cNvPr id="2" name="Title Placeholder 1"/>
          <p:cNvSpPr/>
          <p:nvPr>
            <p:ph type="title"/>
          </p:nvPr>
        </p:nvSpPr>
        <p:spPr>
          <a:xfrm>
            <a:off x="1768515" y="2593340"/>
            <a:ext cx="8654971" cy="1832610"/>
          </a:xfrm>
          <a:prstGeom prst="rect">
            <a:avLst/>
          </a:prstGeom>
          <a:noFill/>
          <a:ln/>
        </p:spPr>
        <p:txBody>
          <a:bodyPr wrap="square" lIns="0" tIns="0" rIns="0" bIns="0" rtlCol="0" anchor="t"/>
          <a:lstStyle>
            <a:lvl1pPr algn="l" indent="0" marL="0">
              <a:lnSpc>
                <a:spcPct val="115000"/>
              </a:lnSpc>
              <a:buNone/>
              <a:defRPr lang="en-US" sz="12500" dirty="0">
                <a:solidFill>
                  <a:srgbClr val="F5F5F7"/>
                </a:solidFill>
                <a:latin typeface="Inter" pitchFamily="34" charset="0"/>
                <a:ea typeface="Inter" pitchFamily="34" charset="-122"/>
                <a:cs typeface="Inter" pitchFamily="34" charset="-120"/>
              </a:defRPr>
            </a:lvl1pPr>
          </a:lstStyle>
          <a:p>
            <a:pPr algn="l" indent="0" marL="0">
              <a:lnSpc>
                <a:spcPct val="115000"/>
              </a:lnSpc>
              <a:buNone/>
            </a:pPr>
            <a:endParaRPr lang="en-US" sz="12500" dirty="0"/>
          </a:p>
        </p:txBody>
      </p:sp>
      <p:sp>
        <p:nvSpPr>
          <p:cNvPr id="3" name="Text Placeholder 2"/>
          <p:cNvSpPr/>
          <p:nvPr>
            <p:ph idx="101" type="body"/>
          </p:nvPr>
        </p:nvSpPr>
        <p:spPr>
          <a:xfrm>
            <a:off x="1768515" y="812800"/>
            <a:ext cx="9610685" cy="1475740"/>
          </a:xfrm>
          <a:prstGeom prst="rect">
            <a:avLst/>
          </a:prstGeom>
          <a:noFill/>
          <a:ln/>
        </p:spPr>
        <p:txBody>
          <a:bodyPr wrap="square" lIns="0" tIns="0" rIns="0" bIns="0" rtlCol="0" anchor="t"/>
          <a:lstStyle>
            <a:lvl1pPr algn="l" indent="0" marL="0">
              <a:lnSpc>
                <a:spcPct val="140000"/>
              </a:lnSpc>
              <a:buNone/>
              <a:defRPr lang="en-US" sz="1600" dirty="0">
                <a:solidFill>
                  <a:srgbClr val="F5F5F7"/>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B0B"/>
        </a:solidFill>
      </p:bgPr>
    </p:bg>
    <p:spTree>
      <p:nvGrpSpPr>
        <p:cNvPr id="1" name=""/>
        <p:cNvGrpSpPr/>
        <p:nvPr/>
      </p:nvGrpSpPr>
      <p:grpSpPr>
        <a:xfrm>
          <a:off x="0" y="0"/>
          <a:ext cx="0" cy="0"/>
          <a:chOff x="0" y="0"/>
          <a:chExt cx="0" cy="0"/>
        </a:xfrm>
      </p:grpSpPr>
      <p:pic>
        <p:nvPicPr>
          <p:cNvPr id="2" name="Image 0" descr="AIdea logo: a red heartbeat line that spells A and I, followed by the letters d, e, a in white">    </p:cNvPr>
          <p:cNvPicPr>
            <a:picLocks noChangeAspect="1"/>
          </p:cNvPicPr>
          <p:nvPr/>
        </p:nvPicPr>
        <p:blipFill>
          <a:blip r:embed="rId1"/>
          <a:srcRect l="0" r="0" t="0" b="0"/>
          <a:stretch/>
        </p:blipFill>
        <p:spPr>
          <a:xfrm>
            <a:off x="4064000" y="1188720"/>
            <a:ext cx="4064000" cy="4064000"/>
          </a:xfrm>
          <a:prstGeom prst="rect">
            <a:avLst/>
          </a:prstGeom>
        </p:spPr>
      </p:pic>
      <p:sp>
        <p:nvSpPr>
          <p:cNvPr id="3" name="Text 0"/>
          <p:cNvSpPr/>
          <p:nvPr/>
        </p:nvSpPr>
        <p:spPr>
          <a:xfrm>
            <a:off x="3100673" y="5303520"/>
            <a:ext cx="5990653" cy="391160"/>
          </a:xfrm>
          <a:prstGeom prst="rect">
            <a:avLst/>
          </a:prstGeom>
          <a:noFill/>
          <a:ln/>
        </p:spPr>
        <p:txBody>
          <a:bodyPr wrap="square" lIns="0" tIns="0" rIns="0" bIns="0" rtlCol="0" anchor="t">
            <a:normAutofit/>
          </a:bodyPr>
          <a:lstStyle/>
          <a:p>
            <a:pPr algn="ctr" indent="0" marL="0">
              <a:lnSpc>
                <a:spcPts val="2880"/>
              </a:lnSpc>
              <a:buNone/>
            </a:pPr>
            <a:r>
              <a:rPr lang="en-US" sz="2400" spc="-50" kern="0" dirty="0">
                <a:solidFill>
                  <a:srgbClr val="A1A1A6"/>
                </a:solidFill>
                <a:latin typeface="Inter" pitchFamily="34" charset="0"/>
                <a:ea typeface="Inter" pitchFamily="34" charset="-122"/>
                <a:cs typeface="Inter" pitchFamily="34" charset="-120"/>
              </a:rPr>
              <a:t>AI news. Every morning. In minutes.</a:t>
            </a:r>
            <a:endParaRPr lang="en-US" sz="2400" dirty="0"/>
          </a:p>
        </p:txBody>
      </p:sp>
      <p:sp>
        <p:nvSpPr>
          <p:cNvPr id="4" name="Text 1"/>
          <p:cNvSpPr/>
          <p:nvPr/>
        </p:nvSpPr>
        <p:spPr>
          <a:xfrm>
            <a:off x="654304" y="6169660"/>
            <a:ext cx="10883392"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86868B"/>
                </a:solidFill>
                <a:latin typeface="Inter" pitchFamily="34" charset="0"/>
                <a:ea typeface="Inter" pitchFamily="34" charset="-122"/>
                <a:cs typeface="Inter" pitchFamily="34" charset="-120"/>
              </a:rPr>
              <a:t>[Team name] · [Event name]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4636588" y="1859280"/>
            <a:ext cx="2918746"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86868B"/>
                </a:solidFill>
                <a:latin typeface="Inter" pitchFamily="34" charset="0"/>
                <a:ea typeface="Inter" pitchFamily="34" charset="-122"/>
                <a:cs typeface="Inter" pitchFamily="34" charset="-120"/>
              </a:rPr>
              <a:t>One day of AI news.</a:t>
            </a:r>
            <a:endParaRPr lang="en-US" sz="2000" dirty="0"/>
          </a:p>
        </p:txBody>
      </p:sp>
      <p:sp>
        <p:nvSpPr>
          <p:cNvPr id="3" name="Text 1"/>
          <p:cNvSpPr/>
          <p:nvPr/>
        </p:nvSpPr>
        <p:spPr>
          <a:xfrm>
            <a:off x="2447449" y="2240280"/>
            <a:ext cx="7297103" cy="2311400"/>
          </a:xfrm>
          <a:prstGeom prst="rect">
            <a:avLst/>
          </a:prstGeom>
          <a:noFill/>
          <a:ln/>
        </p:spPr>
        <p:txBody>
          <a:bodyPr wrap="square" lIns="0" tIns="0" rIns="0" bIns="0" rtlCol="0" anchor="t">
            <a:normAutofit/>
          </a:bodyPr>
          <a:lstStyle/>
          <a:p>
            <a:pPr algn="ctr" indent="0" marL="0">
              <a:lnSpc>
                <a:spcPts val="18000"/>
              </a:lnSpc>
              <a:buNone/>
            </a:pPr>
            <a:r>
              <a:rPr lang="en-US" sz="18000" b="1" spc="-700" kern="0" dirty="0">
                <a:solidFill>
                  <a:srgbClr val="F5F5F7"/>
                </a:solidFill>
                <a:latin typeface="Inter" pitchFamily="34" charset="0"/>
                <a:ea typeface="Inter" pitchFamily="34" charset="-122"/>
                <a:cs typeface="Inter" pitchFamily="34" charset="-120"/>
              </a:rPr>
              <a:t>7,459</a:t>
            </a:r>
            <a:endParaRPr lang="en-US" sz="18000" dirty="0"/>
          </a:p>
        </p:txBody>
      </p:sp>
      <p:sp>
        <p:nvSpPr>
          <p:cNvPr id="4" name="Text 2"/>
          <p:cNvSpPr/>
          <p:nvPr/>
        </p:nvSpPr>
        <p:spPr>
          <a:xfrm>
            <a:off x="3672372" y="4602480"/>
            <a:ext cx="4847177" cy="421640"/>
          </a:xfrm>
          <a:prstGeom prst="rect">
            <a:avLst/>
          </a:prstGeom>
          <a:noFill/>
          <a:ln/>
        </p:spPr>
        <p:txBody>
          <a:bodyPr wrap="square" lIns="0" tIns="0" rIns="0" bIns="0" rtlCol="0" anchor="t">
            <a:normAutofit/>
          </a:bodyPr>
          <a:lstStyle/>
          <a:p>
            <a:pPr algn="ctr" indent="0" marL="0">
              <a:lnSpc>
                <a:spcPts val="3120"/>
              </a:lnSpc>
              <a:buNone/>
            </a:pPr>
            <a:r>
              <a:rPr lang="en-US" sz="2600" spc="-50" kern="0" dirty="0">
                <a:solidFill>
                  <a:srgbClr val="A1A1A6"/>
                </a:solidFill>
                <a:latin typeface="Inter" pitchFamily="34" charset="0"/>
                <a:ea typeface="Inter" pitchFamily="34" charset="-122"/>
                <a:cs typeface="Inter" pitchFamily="34" charset="-120"/>
              </a:rPr>
              <a:t>entries, across 41 sources.</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5348391" y="1732280"/>
            <a:ext cx="1495139"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86868B"/>
                </a:solidFill>
                <a:latin typeface="Inter" pitchFamily="34" charset="0"/>
                <a:ea typeface="Inter" pitchFamily="34" charset="-122"/>
                <a:cs typeface="Inter" pitchFamily="34" charset="-120"/>
              </a:rPr>
              <a:t>Of all that,</a:t>
            </a:r>
            <a:endParaRPr lang="en-US" sz="2000" dirty="0"/>
          </a:p>
        </p:txBody>
      </p:sp>
      <p:sp>
        <p:nvSpPr>
          <p:cNvPr id="3" name="Text 1"/>
          <p:cNvSpPr/>
          <p:nvPr/>
        </p:nvSpPr>
        <p:spPr>
          <a:xfrm>
            <a:off x="4799591" y="2113280"/>
            <a:ext cx="2592818" cy="2565400"/>
          </a:xfrm>
          <a:prstGeom prst="rect">
            <a:avLst/>
          </a:prstGeom>
          <a:noFill/>
          <a:ln/>
        </p:spPr>
        <p:txBody>
          <a:bodyPr wrap="square" lIns="0" tIns="0" rIns="0" bIns="0" rtlCol="0" anchor="t">
            <a:normAutofit/>
          </a:bodyPr>
          <a:lstStyle/>
          <a:p>
            <a:pPr algn="ctr" indent="0" marL="0">
              <a:lnSpc>
                <a:spcPts val="20000"/>
              </a:lnSpc>
              <a:buNone/>
            </a:pPr>
            <a:r>
              <a:rPr lang="en-US" sz="20000" b="1" spc="-700" kern="0" dirty="0">
                <a:gradFill rotWithShape="1">
                  <a:gsLst>
                    <a:gs pos="0">
                      <a:srgbClr val="FF2B33"/>
                    </a:gs>
                    <a:gs pos="100000">
                      <a:srgbClr val="FF8A5C"/>
                    </a:gs>
                  </a:gsLst>
                  <a:lin ang="0" scaled="0"/>
                </a:gradFill>
                <a:latin typeface="Inter" pitchFamily="34" charset="0"/>
                <a:ea typeface="Inter" pitchFamily="34" charset="-122"/>
                <a:cs typeface="Inter" pitchFamily="34" charset="-120"/>
              </a:rPr>
              <a:t>12</a:t>
            </a:r>
            <a:endParaRPr lang="en-US" sz="20000" dirty="0"/>
          </a:p>
        </p:txBody>
      </p:sp>
      <p:sp>
        <p:nvSpPr>
          <p:cNvPr id="4" name="Text 2"/>
          <p:cNvSpPr/>
          <p:nvPr/>
        </p:nvSpPr>
        <p:spPr>
          <a:xfrm>
            <a:off x="3442811" y="4729480"/>
            <a:ext cx="5306378" cy="421640"/>
          </a:xfrm>
          <a:prstGeom prst="rect">
            <a:avLst/>
          </a:prstGeom>
          <a:noFill/>
          <a:ln/>
        </p:spPr>
        <p:txBody>
          <a:bodyPr wrap="square" lIns="0" tIns="0" rIns="0" bIns="0" rtlCol="0" anchor="t">
            <a:normAutofit/>
          </a:bodyPr>
          <a:lstStyle/>
          <a:p>
            <a:pPr algn="ctr" indent="0" marL="0">
              <a:lnSpc>
                <a:spcPts val="3120"/>
              </a:lnSpc>
              <a:buNone/>
            </a:pPr>
            <a:r>
              <a:rPr lang="en-US" sz="2600" spc="-50" kern="0" dirty="0">
                <a:solidFill>
                  <a:srgbClr val="F5F5F7"/>
                </a:solidFill>
                <a:latin typeface="Inter" pitchFamily="34" charset="0"/>
                <a:ea typeface="Inter" pitchFamily="34" charset="-122"/>
                <a:cs typeface="Inter" pitchFamily="34" charset="-120"/>
              </a:rPr>
              <a:t>stories were worth your time.</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3795332" y="2049780"/>
            <a:ext cx="4601337"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86868B"/>
                </a:solidFill>
                <a:latin typeface="Inter" pitchFamily="34" charset="0"/>
                <a:ea typeface="Inter" pitchFamily="34" charset="-122"/>
                <a:cs typeface="Inter" pitchFamily="34" charset="-120"/>
              </a:rPr>
              <a:t>Reading just those twelve takes</a:t>
            </a:r>
            <a:endParaRPr lang="en-US" sz="2000" dirty="0"/>
          </a:p>
        </p:txBody>
      </p:sp>
      <p:sp>
        <p:nvSpPr>
          <p:cNvPr id="3" name="Text 1"/>
          <p:cNvSpPr/>
          <p:nvPr>
            <p:ph type="title"/>
          </p:nvPr>
        </p:nvSpPr>
        <p:spPr>
          <a:xfrm>
            <a:off x="1827848" y="2430780"/>
            <a:ext cx="8536305" cy="1930400"/>
          </a:xfrm>
          <a:prstGeom prst="rect">
            <a:avLst/>
          </a:prstGeom>
          <a:noFill/>
          <a:ln/>
        </p:spPr>
        <p:txBody>
          <a:bodyPr wrap="square" lIns="0" tIns="0" rIns="0" bIns="0" rtlCol="0" anchor="t">
            <a:normAutofit/>
          </a:bodyPr>
          <a:lstStyle/>
          <a:p>
            <a:pPr algn="ctr" indent="0" marL="0">
              <a:lnSpc>
                <a:spcPts val="15000"/>
              </a:lnSpc>
              <a:buNone/>
            </a:pPr>
            <a:r>
              <a:rPr lang="en-US" sz="15000" b="1" i="0" spc="-600" kern="0" dirty="0">
                <a:solidFill>
                  <a:srgbClr val="F5F5F7"/>
                </a:solidFill>
                <a:latin typeface="Inter" pitchFamily="34" charset="0"/>
                <a:ea typeface="Inter" pitchFamily="34" charset="-122"/>
                <a:cs typeface="Inter" pitchFamily="34" charset="-120"/>
              </a:rPr>
              <a:t>126 min</a:t>
            </a:r>
            <a:endParaRPr lang="en-US" sz="15000" dirty="0"/>
          </a:p>
        </p:txBody>
      </p:sp>
      <p:sp>
        <p:nvSpPr>
          <p:cNvPr id="4" name="Text 2"/>
          <p:cNvSpPr/>
          <p:nvPr/>
        </p:nvSpPr>
        <p:spPr>
          <a:xfrm>
            <a:off x="4083280" y="4411980"/>
            <a:ext cx="4025360" cy="421640"/>
          </a:xfrm>
          <a:prstGeom prst="rect">
            <a:avLst/>
          </a:prstGeom>
          <a:noFill/>
          <a:ln/>
        </p:spPr>
        <p:txBody>
          <a:bodyPr wrap="square" lIns="0" tIns="0" rIns="0" bIns="0" rtlCol="0" anchor="t">
            <a:normAutofit/>
          </a:bodyPr>
          <a:lstStyle/>
          <a:p>
            <a:pPr algn="ctr" indent="0" marL="0">
              <a:lnSpc>
                <a:spcPts val="3120"/>
              </a:lnSpc>
              <a:buNone/>
            </a:pPr>
            <a:r>
              <a:rPr lang="en-US" sz="2600" spc="-50" kern="0" dirty="0">
                <a:solidFill>
                  <a:srgbClr val="A1A1A6"/>
                </a:solidFill>
                <a:latin typeface="Inter" pitchFamily="34" charset="0"/>
                <a:ea typeface="Inter" pitchFamily="34" charset="-122"/>
                <a:cs typeface="Inter" pitchFamily="34" charset="-120"/>
              </a:rPr>
              <a:t>Two hours. Every day.</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4896803" y="1922782"/>
            <a:ext cx="2398395"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86868B"/>
                </a:solidFill>
                <a:latin typeface="Inter" pitchFamily="34" charset="0"/>
                <a:ea typeface="Inter" pitchFamily="34" charset="-122"/>
                <a:cs typeface="Inter" pitchFamily="34" charset="-120"/>
              </a:rPr>
              <a:t>We turned it into</a:t>
            </a:r>
            <a:endParaRPr lang="en-US" sz="2000" dirty="0"/>
          </a:p>
        </p:txBody>
      </p:sp>
      <p:sp>
        <p:nvSpPr>
          <p:cNvPr id="3" name="Text 1"/>
          <p:cNvSpPr/>
          <p:nvPr>
            <p:ph type="title"/>
          </p:nvPr>
        </p:nvSpPr>
        <p:spPr>
          <a:xfrm>
            <a:off x="2828531" y="2303782"/>
            <a:ext cx="6534859" cy="2184400"/>
          </a:xfrm>
          <a:prstGeom prst="rect">
            <a:avLst/>
          </a:prstGeom>
          <a:noFill/>
          <a:ln/>
        </p:spPr>
        <p:txBody>
          <a:bodyPr wrap="square" lIns="0" tIns="0" rIns="0" bIns="0" rtlCol="0" anchor="t">
            <a:normAutofit/>
          </a:bodyPr>
          <a:lstStyle/>
          <a:p>
            <a:pPr algn="ctr" indent="0" marL="0">
              <a:lnSpc>
                <a:spcPts val="17000"/>
              </a:lnSpc>
              <a:buNone/>
            </a:pPr>
            <a:r>
              <a:rPr lang="en-US" sz="17000" b="1" i="0" spc="-600" kern="0" dirty="0">
                <a:gradFill rotWithShape="1">
                  <a:gsLst>
                    <a:gs pos="0">
                      <a:srgbClr val="FF2B33"/>
                    </a:gs>
                    <a:gs pos="100000">
                      <a:srgbClr val="FF8A5C"/>
                    </a:gs>
                  </a:gsLst>
                  <a:lin ang="0" scaled="0"/>
                </a:gradFill>
                <a:latin typeface="Inter" pitchFamily="34" charset="0"/>
                <a:ea typeface="Inter" pitchFamily="34" charset="-122"/>
                <a:cs typeface="Inter" pitchFamily="34" charset="-120"/>
              </a:rPr>
              <a:t>14 min</a:t>
            </a:r>
            <a:endParaRPr lang="en-US" sz="17000" dirty="0"/>
          </a:p>
        </p:txBody>
      </p:sp>
      <p:sp>
        <p:nvSpPr>
          <p:cNvPr id="4" name="Text 2"/>
          <p:cNvSpPr/>
          <p:nvPr/>
        </p:nvSpPr>
        <p:spPr>
          <a:xfrm>
            <a:off x="3415864" y="4538982"/>
            <a:ext cx="5360194" cy="421640"/>
          </a:xfrm>
          <a:prstGeom prst="rect">
            <a:avLst/>
          </a:prstGeom>
          <a:noFill/>
          <a:ln/>
        </p:spPr>
        <p:txBody>
          <a:bodyPr wrap="square" lIns="0" tIns="0" rIns="0" bIns="0" rtlCol="0" anchor="t">
            <a:normAutofit/>
          </a:bodyPr>
          <a:lstStyle/>
          <a:p>
            <a:pPr algn="ctr" indent="0" marL="0">
              <a:lnSpc>
                <a:spcPts val="3120"/>
              </a:lnSpc>
              <a:buNone/>
            </a:pPr>
            <a:r>
              <a:rPr lang="en-US" sz="2600" spc="-50" kern="0" dirty="0">
                <a:solidFill>
                  <a:srgbClr val="F5F5F7"/>
                </a:solidFill>
                <a:latin typeface="Inter" pitchFamily="34" charset="0"/>
                <a:ea typeface="Inter" pitchFamily="34" charset="-122"/>
                <a:cs typeface="Inter" pitchFamily="34" charset="-120"/>
              </a:rPr>
              <a:t>One episode. Just press play.</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5264475" y="2162175"/>
            <a:ext cx="1662970"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FF2B33"/>
                </a:solidFill>
                <a:latin typeface="Inter" pitchFamily="34" charset="0"/>
                <a:ea typeface="Inter" pitchFamily="34" charset="-122"/>
                <a:cs typeface="Inter" pitchFamily="34" charset="-120"/>
              </a:rPr>
              <a:t>Introducing</a:t>
            </a:r>
            <a:endParaRPr lang="en-US" sz="2000" dirty="0"/>
          </a:p>
        </p:txBody>
      </p:sp>
      <p:sp>
        <p:nvSpPr>
          <p:cNvPr id="3" name="Text 1"/>
          <p:cNvSpPr/>
          <p:nvPr>
            <p:ph type="title"/>
          </p:nvPr>
        </p:nvSpPr>
        <p:spPr>
          <a:xfrm>
            <a:off x="1620592" y="2644775"/>
            <a:ext cx="8950738" cy="1485900"/>
          </a:xfrm>
          <a:prstGeom prst="rect">
            <a:avLst/>
          </a:prstGeom>
          <a:noFill/>
          <a:ln/>
        </p:spPr>
        <p:txBody>
          <a:bodyPr wrap="square" lIns="0" tIns="0" rIns="0" bIns="0" rtlCol="0" anchor="t">
            <a:normAutofit/>
          </a:bodyPr>
          <a:lstStyle/>
          <a:p>
            <a:pPr algn="ctr" indent="0" marL="0">
              <a:lnSpc>
                <a:spcPts val="11500"/>
              </a:lnSpc>
              <a:buNone/>
            </a:pPr>
            <a:r>
              <a:rPr lang="en-US" sz="11500" b="1" i="0" spc="-450" kern="0" dirty="0">
                <a:solidFill>
                  <a:srgbClr val="F5F5F7"/>
                </a:solidFill>
                <a:latin typeface="Inter" pitchFamily="34" charset="0"/>
                <a:ea typeface="Inter" pitchFamily="34" charset="-122"/>
                <a:cs typeface="Inter" pitchFamily="34" charset="-120"/>
              </a:rPr>
              <a:t>AIdea Daily</a:t>
            </a:r>
            <a:endParaRPr lang="en-US" sz="11500" dirty="0"/>
          </a:p>
        </p:txBody>
      </p:sp>
      <p:sp>
        <p:nvSpPr>
          <p:cNvPr id="4" name="Text 2"/>
          <p:cNvSpPr/>
          <p:nvPr/>
        </p:nvSpPr>
        <p:spPr>
          <a:xfrm>
            <a:off x="2374781" y="4283075"/>
            <a:ext cx="7442359" cy="438150"/>
          </a:xfrm>
          <a:prstGeom prst="rect">
            <a:avLst/>
          </a:prstGeom>
          <a:noFill/>
          <a:ln/>
        </p:spPr>
        <p:txBody>
          <a:bodyPr wrap="square" lIns="0" tIns="0" rIns="0" bIns="0" rtlCol="0" anchor="t">
            <a:normAutofit/>
          </a:bodyPr>
          <a:lstStyle/>
          <a:p>
            <a:pPr algn="ctr" indent="0" marL="0">
              <a:lnSpc>
                <a:spcPts val="3250"/>
              </a:lnSpc>
              <a:buNone/>
            </a:pPr>
            <a:r>
              <a:rPr lang="en-US" sz="2600" spc="-50" kern="0" dirty="0">
                <a:solidFill>
                  <a:srgbClr val="A1A1A6"/>
                </a:solidFill>
                <a:latin typeface="Inter" pitchFamily="34" charset="0"/>
                <a:ea typeface="Inter" pitchFamily="34" charset="-122"/>
                <a:cs typeface="Inter" pitchFamily="34" charset="-120"/>
              </a:rPr>
              <a:t>The day's AI news, checked and spoken.</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3941064" y="2208532"/>
            <a:ext cx="4309872"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86868B"/>
                </a:solidFill>
                <a:latin typeface="Inter" pitchFamily="34" charset="0"/>
                <a:ea typeface="Inter" pitchFamily="34" charset="-122"/>
                <a:cs typeface="Inter" pitchFamily="34" charset="-120"/>
              </a:rPr>
              <a:t>What you get, every morning.</a:t>
            </a:r>
            <a:endParaRPr lang="en-US" sz="2000" dirty="0"/>
          </a:p>
        </p:txBody>
      </p:sp>
      <p:sp>
        <p:nvSpPr>
          <p:cNvPr id="3" name="Text 1"/>
          <p:cNvSpPr/>
          <p:nvPr/>
        </p:nvSpPr>
        <p:spPr>
          <a:xfrm>
            <a:off x="959842" y="3122932"/>
            <a:ext cx="2957036" cy="838200"/>
          </a:xfrm>
          <a:prstGeom prst="rect">
            <a:avLst/>
          </a:prstGeom>
          <a:noFill/>
          <a:ln/>
        </p:spPr>
        <p:txBody>
          <a:bodyPr wrap="square" lIns="0" tIns="0" rIns="0" bIns="0" rtlCol="0" anchor="t">
            <a:normAutofit/>
          </a:bodyPr>
          <a:lstStyle/>
          <a:p>
            <a:pPr algn="ctr" indent="0" marL="0">
              <a:lnSpc>
                <a:spcPts val="6400"/>
              </a:lnSpc>
              <a:buNone/>
            </a:pPr>
            <a:r>
              <a:rPr lang="en-US" sz="6400" b="1" spc="-250" kern="0" dirty="0">
                <a:solidFill>
                  <a:srgbClr val="F5F5F7"/>
                </a:solidFill>
                <a:latin typeface="Inter" pitchFamily="34" charset="0"/>
                <a:ea typeface="Inter" pitchFamily="34" charset="-122"/>
                <a:cs typeface="Inter" pitchFamily="34" charset="-120"/>
              </a:rPr>
              <a:t>Listen.</a:t>
            </a:r>
            <a:endParaRPr lang="en-US" sz="6400" dirty="0"/>
          </a:p>
        </p:txBody>
      </p:sp>
      <p:sp>
        <p:nvSpPr>
          <p:cNvPr id="4" name="Text 2"/>
          <p:cNvSpPr/>
          <p:nvPr/>
        </p:nvSpPr>
        <p:spPr>
          <a:xfrm>
            <a:off x="999490" y="4088132"/>
            <a:ext cx="2877820" cy="586740"/>
          </a:xfrm>
          <a:prstGeom prst="rect">
            <a:avLst/>
          </a:prstGeom>
          <a:noFill/>
          <a:ln/>
        </p:spPr>
        <p:txBody>
          <a:bodyPr wrap="square" lIns="0" tIns="0" rIns="0" bIns="0" rtlCol="0" anchor="t">
            <a:normAutofit/>
          </a:bodyPr>
          <a:lstStyle/>
          <a:p>
            <a:pPr algn="ctr" indent="0" marL="0">
              <a:lnSpc>
                <a:spcPts val="2210"/>
              </a:lnSpc>
              <a:buNone/>
            </a:pPr>
            <a:r>
              <a:rPr lang="en-US" sz="1700" dirty="0">
                <a:solidFill>
                  <a:srgbClr val="A1A1A6"/>
                </a:solidFill>
                <a:latin typeface="Inter" pitchFamily="34" charset="0"/>
                <a:ea typeface="Inter" pitchFamily="34" charset="-122"/>
                <a:cs typeface="Inter" pitchFamily="34" charset="-120"/>
              </a:rPr>
              <a:t>A fresh episode, ready to play.</a:t>
            </a:r>
            <a:endParaRPr lang="en-US" sz="1700" dirty="0"/>
          </a:p>
        </p:txBody>
      </p:sp>
      <p:sp>
        <p:nvSpPr>
          <p:cNvPr id="5" name="Text 3"/>
          <p:cNvSpPr/>
          <p:nvPr/>
        </p:nvSpPr>
        <p:spPr>
          <a:xfrm>
            <a:off x="4828040" y="3122932"/>
            <a:ext cx="2535841" cy="838200"/>
          </a:xfrm>
          <a:prstGeom prst="rect">
            <a:avLst/>
          </a:prstGeom>
          <a:noFill/>
          <a:ln/>
        </p:spPr>
        <p:txBody>
          <a:bodyPr wrap="square" lIns="0" tIns="0" rIns="0" bIns="0" rtlCol="0" anchor="t">
            <a:normAutofit/>
          </a:bodyPr>
          <a:lstStyle/>
          <a:p>
            <a:pPr algn="ctr" indent="0" marL="0">
              <a:lnSpc>
                <a:spcPts val="6400"/>
              </a:lnSpc>
              <a:buNone/>
            </a:pPr>
            <a:r>
              <a:rPr lang="en-US" sz="6400" b="1" spc="-250" kern="0" dirty="0">
                <a:solidFill>
                  <a:srgbClr val="F5F5F7"/>
                </a:solidFill>
                <a:latin typeface="Inter" pitchFamily="34" charset="0"/>
                <a:ea typeface="Inter" pitchFamily="34" charset="-122"/>
                <a:cs typeface="Inter" pitchFamily="34" charset="-120"/>
              </a:rPr>
              <a:t>Read.</a:t>
            </a:r>
            <a:endParaRPr lang="en-US" sz="6400" dirty="0"/>
          </a:p>
        </p:txBody>
      </p:sp>
      <p:sp>
        <p:nvSpPr>
          <p:cNvPr id="6" name="Text 4"/>
          <p:cNvSpPr/>
          <p:nvPr/>
        </p:nvSpPr>
        <p:spPr>
          <a:xfrm>
            <a:off x="4657090" y="4088132"/>
            <a:ext cx="2877820" cy="586740"/>
          </a:xfrm>
          <a:prstGeom prst="rect">
            <a:avLst/>
          </a:prstGeom>
          <a:noFill/>
          <a:ln/>
        </p:spPr>
        <p:txBody>
          <a:bodyPr wrap="square" lIns="0" tIns="0" rIns="0" bIns="0" rtlCol="0" anchor="t">
            <a:normAutofit/>
          </a:bodyPr>
          <a:lstStyle/>
          <a:p>
            <a:pPr algn="ctr" indent="0" marL="0">
              <a:lnSpc>
                <a:spcPts val="2210"/>
              </a:lnSpc>
              <a:buNone/>
            </a:pPr>
            <a:r>
              <a:rPr lang="en-US" sz="1700" dirty="0">
                <a:solidFill>
                  <a:srgbClr val="A1A1A6"/>
                </a:solidFill>
                <a:latin typeface="Inter" pitchFamily="34" charset="0"/>
                <a:ea typeface="Inter" pitchFamily="34" charset="-122"/>
                <a:cs typeface="Inter" pitchFamily="34" charset="-120"/>
              </a:rPr>
              <a:t>The same stories as a newsletter.</a:t>
            </a:r>
            <a:endParaRPr lang="en-US" sz="1700" dirty="0"/>
          </a:p>
        </p:txBody>
      </p:sp>
      <p:sp>
        <p:nvSpPr>
          <p:cNvPr id="7" name="Text 5"/>
          <p:cNvSpPr/>
          <p:nvPr/>
        </p:nvSpPr>
        <p:spPr>
          <a:xfrm>
            <a:off x="8453160" y="3122932"/>
            <a:ext cx="2600801" cy="838200"/>
          </a:xfrm>
          <a:prstGeom prst="rect">
            <a:avLst/>
          </a:prstGeom>
          <a:noFill/>
          <a:ln/>
        </p:spPr>
        <p:txBody>
          <a:bodyPr wrap="square" lIns="0" tIns="0" rIns="0" bIns="0" rtlCol="0" anchor="t">
            <a:normAutofit/>
          </a:bodyPr>
          <a:lstStyle/>
          <a:p>
            <a:pPr algn="ctr" indent="0" marL="0">
              <a:lnSpc>
                <a:spcPts val="6400"/>
              </a:lnSpc>
              <a:buNone/>
            </a:pPr>
            <a:r>
              <a:rPr lang="en-US" sz="6400" b="1" spc="-250" kern="0" dirty="0">
                <a:solidFill>
                  <a:srgbClr val="FF2B33"/>
                </a:solidFill>
                <a:latin typeface="Inter" pitchFamily="34" charset="0"/>
                <a:ea typeface="Inter" pitchFamily="34" charset="-122"/>
                <a:cs typeface="Inter" pitchFamily="34" charset="-120"/>
              </a:rPr>
              <a:t>Trust.</a:t>
            </a:r>
            <a:endParaRPr lang="en-US" sz="6400" dirty="0"/>
          </a:p>
        </p:txBody>
      </p:sp>
      <p:sp>
        <p:nvSpPr>
          <p:cNvPr id="8" name="Text 6"/>
          <p:cNvSpPr/>
          <p:nvPr/>
        </p:nvSpPr>
        <p:spPr>
          <a:xfrm>
            <a:off x="8314690" y="4088132"/>
            <a:ext cx="2877820" cy="586740"/>
          </a:xfrm>
          <a:prstGeom prst="rect">
            <a:avLst/>
          </a:prstGeom>
          <a:noFill/>
          <a:ln/>
        </p:spPr>
        <p:txBody>
          <a:bodyPr wrap="square" lIns="0" tIns="0" rIns="0" bIns="0" rtlCol="0" anchor="t">
            <a:normAutofit/>
          </a:bodyPr>
          <a:lstStyle/>
          <a:p>
            <a:pPr algn="ctr" indent="0" marL="0">
              <a:lnSpc>
                <a:spcPts val="2210"/>
              </a:lnSpc>
              <a:buNone/>
            </a:pPr>
            <a:r>
              <a:rPr lang="en-US" sz="1700" dirty="0">
                <a:solidFill>
                  <a:srgbClr val="A1A1A6"/>
                </a:solidFill>
                <a:latin typeface="Inter" pitchFamily="34" charset="0"/>
                <a:ea typeface="Inter" pitchFamily="34" charset="-122"/>
                <a:cs typeface="Inter" pitchFamily="34" charset="-120"/>
              </a:rPr>
              <a:t>Every story linked to its sources.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1557433" y="2052321"/>
            <a:ext cx="9077134" cy="1126490"/>
          </a:xfrm>
          <a:prstGeom prst="rect">
            <a:avLst/>
          </a:prstGeom>
          <a:noFill/>
          <a:ln/>
        </p:spPr>
        <p:txBody>
          <a:bodyPr wrap="square" lIns="0" tIns="0" rIns="0" bIns="0" rtlCol="0" anchor="t">
            <a:normAutofit/>
          </a:bodyPr>
          <a:lstStyle/>
          <a:p>
            <a:pPr algn="ctr" indent="0" marL="0">
              <a:lnSpc>
                <a:spcPts val="8670"/>
              </a:lnSpc>
              <a:buNone/>
            </a:pPr>
            <a:r>
              <a:rPr lang="en-US" sz="8500" b="1" spc="-350" kern="0" dirty="0">
                <a:solidFill>
                  <a:srgbClr val="F5F5F7"/>
                </a:solidFill>
                <a:latin typeface="Inter" pitchFamily="34" charset="0"/>
                <a:ea typeface="Inter" pitchFamily="34" charset="-122"/>
                <a:cs typeface="Inter" pitchFamily="34" charset="-120"/>
              </a:rPr>
              <a:t>Every sentence</a:t>
            </a:r>
            <a:endParaRPr lang="en-US" sz="8500" dirty="0"/>
          </a:p>
        </p:txBody>
      </p:sp>
      <p:sp>
        <p:nvSpPr>
          <p:cNvPr id="3" name="Text 1"/>
          <p:cNvSpPr/>
          <p:nvPr/>
        </p:nvSpPr>
        <p:spPr>
          <a:xfrm>
            <a:off x="1465081" y="3204211"/>
            <a:ext cx="9261839" cy="1212850"/>
          </a:xfrm>
          <a:prstGeom prst="rect">
            <a:avLst/>
          </a:prstGeom>
          <a:noFill/>
          <a:ln/>
        </p:spPr>
        <p:txBody>
          <a:bodyPr wrap="square" lIns="0" tIns="0" rIns="0" bIns="0" rtlCol="0" anchor="t">
            <a:normAutofit/>
          </a:bodyPr>
          <a:lstStyle/>
          <a:p>
            <a:pPr algn="ctr" indent="0" marL="0">
              <a:lnSpc>
                <a:spcPts val="9350"/>
              </a:lnSpc>
              <a:buNone/>
            </a:pPr>
            <a:r>
              <a:rPr lang="en-US" sz="8500" b="1" spc="-350" kern="0" dirty="0">
                <a:gradFill rotWithShape="1">
                  <a:gsLst>
                    <a:gs pos="0">
                      <a:srgbClr val="FF2B33"/>
                    </a:gs>
                    <a:gs pos="100000">
                      <a:srgbClr val="FF8A5C"/>
                    </a:gs>
                  </a:gsLst>
                  <a:lin ang="0" scaled="0"/>
                </a:gradFill>
                <a:latin typeface="Inter" pitchFamily="34" charset="0"/>
                <a:ea typeface="Inter" pitchFamily="34" charset="-122"/>
                <a:cs typeface="Inter" pitchFamily="34" charset="-120"/>
              </a:rPr>
              <a:t>traced to a source.</a:t>
            </a:r>
            <a:endParaRPr lang="en-US" sz="8500" dirty="0"/>
          </a:p>
        </p:txBody>
      </p:sp>
      <p:sp>
        <p:nvSpPr>
          <p:cNvPr id="4" name="Text 2"/>
          <p:cNvSpPr/>
          <p:nvPr/>
        </p:nvSpPr>
        <p:spPr>
          <a:xfrm>
            <a:off x="1143000" y="4442464"/>
            <a:ext cx="9906000" cy="388620"/>
          </a:xfrm>
          <a:prstGeom prst="rect">
            <a:avLst/>
          </a:prstGeom>
          <a:noFill/>
          <a:ln/>
        </p:spPr>
        <p:txBody>
          <a:bodyPr wrap="square" lIns="0" tIns="0" rIns="0" bIns="0" rtlCol="0" anchor="t">
            <a:normAutofit/>
          </a:bodyPr>
          <a:lstStyle/>
          <a:p>
            <a:pPr algn="ctr" indent="0" marL="0">
              <a:lnSpc>
                <a:spcPts val="2860"/>
              </a:lnSpc>
              <a:buNone/>
            </a:pPr>
            <a:r>
              <a:rPr lang="en-US" sz="2200" spc="-50" kern="0" dirty="0">
                <a:solidFill>
                  <a:srgbClr val="A1A1A6"/>
                </a:solidFill>
                <a:latin typeface="Inter" pitchFamily="34" charset="0"/>
                <a:ea typeface="Inter" pitchFamily="34" charset="-122"/>
                <a:cs typeface="Inter" pitchFamily="34" charset="-120"/>
              </a:rPr>
              <a:t>Every name and number is checked against the original articles.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5104360" y="2301242"/>
            <a:ext cx="1983200"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86868B"/>
                </a:solidFill>
                <a:latin typeface="Inter" pitchFamily="34" charset="0"/>
                <a:ea typeface="Inter" pitchFamily="34" charset="-122"/>
                <a:cs typeface="Inter" pitchFamily="34" charset="-120"/>
              </a:rPr>
              <a:t>How it works.</a:t>
            </a:r>
            <a:endParaRPr lang="en-US" sz="2000" dirty="0"/>
          </a:p>
        </p:txBody>
      </p:sp>
      <p:sp>
        <p:nvSpPr>
          <p:cNvPr id="3" name="Text 1"/>
          <p:cNvSpPr/>
          <p:nvPr/>
        </p:nvSpPr>
        <p:spPr>
          <a:xfrm>
            <a:off x="812101" y="3215642"/>
            <a:ext cx="2452497" cy="685800"/>
          </a:xfrm>
          <a:prstGeom prst="rect">
            <a:avLst/>
          </a:prstGeom>
          <a:noFill/>
          <a:ln/>
        </p:spPr>
        <p:txBody>
          <a:bodyPr wrap="square" lIns="0" tIns="0" rIns="0" bIns="0" rtlCol="0" anchor="t">
            <a:normAutofit/>
          </a:bodyPr>
          <a:lstStyle/>
          <a:p>
            <a:pPr algn="ctr" indent="0" marL="0">
              <a:lnSpc>
                <a:spcPts val="5200"/>
              </a:lnSpc>
              <a:buNone/>
            </a:pPr>
            <a:r>
              <a:rPr lang="en-US" sz="5200" b="1" spc="-200" kern="0" dirty="0">
                <a:solidFill>
                  <a:srgbClr val="F5F5F7"/>
                </a:solidFill>
                <a:latin typeface="Inter" pitchFamily="34" charset="0"/>
                <a:ea typeface="Inter" pitchFamily="34" charset="-122"/>
                <a:cs typeface="Inter" pitchFamily="34" charset="-120"/>
              </a:rPr>
              <a:t>Gather</a:t>
            </a:r>
            <a:endParaRPr lang="en-US" sz="5200" dirty="0"/>
          </a:p>
        </p:txBody>
      </p:sp>
      <p:sp>
        <p:nvSpPr>
          <p:cNvPr id="4" name="Text 2"/>
          <p:cNvSpPr/>
          <p:nvPr/>
        </p:nvSpPr>
        <p:spPr>
          <a:xfrm>
            <a:off x="926465" y="4028442"/>
            <a:ext cx="2223770" cy="5537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A1A1A6"/>
                </a:solidFill>
                <a:latin typeface="Inter" pitchFamily="34" charset="0"/>
                <a:ea typeface="Inter" pitchFamily="34" charset="-122"/>
                <a:cs typeface="Inter" pitchFamily="34" charset="-120"/>
              </a:rPr>
              <a:t>41 sources, read automatically.</a:t>
            </a:r>
            <a:endParaRPr lang="en-US" sz="1600" dirty="0"/>
          </a:p>
        </p:txBody>
      </p:sp>
      <p:sp>
        <p:nvSpPr>
          <p:cNvPr id="5" name="Text 3"/>
          <p:cNvSpPr/>
          <p:nvPr/>
        </p:nvSpPr>
        <p:spPr>
          <a:xfrm>
            <a:off x="3605125" y="3215642"/>
            <a:ext cx="2276570" cy="685800"/>
          </a:xfrm>
          <a:prstGeom prst="rect">
            <a:avLst/>
          </a:prstGeom>
          <a:noFill/>
          <a:ln/>
        </p:spPr>
        <p:txBody>
          <a:bodyPr wrap="square" lIns="0" tIns="0" rIns="0" bIns="0" rtlCol="0" anchor="t">
            <a:normAutofit/>
          </a:bodyPr>
          <a:lstStyle/>
          <a:p>
            <a:pPr algn="ctr" indent="0" marL="0">
              <a:lnSpc>
                <a:spcPts val="5200"/>
              </a:lnSpc>
              <a:buNone/>
            </a:pPr>
            <a:r>
              <a:rPr lang="en-US" sz="5200" b="1" spc="-200" kern="0" dirty="0">
                <a:solidFill>
                  <a:srgbClr val="F5F5F7"/>
                </a:solidFill>
                <a:latin typeface="Inter" pitchFamily="34" charset="0"/>
                <a:ea typeface="Inter" pitchFamily="34" charset="-122"/>
                <a:cs typeface="Inter" pitchFamily="34" charset="-120"/>
              </a:rPr>
              <a:t>Judge</a:t>
            </a:r>
            <a:endParaRPr lang="en-US" sz="5200" dirty="0"/>
          </a:p>
        </p:txBody>
      </p:sp>
      <p:sp>
        <p:nvSpPr>
          <p:cNvPr id="6" name="Text 4"/>
          <p:cNvSpPr/>
          <p:nvPr/>
        </p:nvSpPr>
        <p:spPr>
          <a:xfrm>
            <a:off x="3631565" y="4028442"/>
            <a:ext cx="2223770" cy="5537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A1A1A6"/>
                </a:solidFill>
                <a:latin typeface="Inter" pitchFamily="34" charset="0"/>
                <a:ea typeface="Inter" pitchFamily="34" charset="-122"/>
                <a:cs typeface="Inter" pitchFamily="34" charset="-120"/>
              </a:rPr>
              <a:t>An AI editor picks what matters.</a:t>
            </a:r>
            <a:endParaRPr lang="en-US" sz="1600" dirty="0"/>
          </a:p>
        </p:txBody>
      </p:sp>
      <p:sp>
        <p:nvSpPr>
          <p:cNvPr id="7" name="Text 5"/>
          <p:cNvSpPr/>
          <p:nvPr/>
        </p:nvSpPr>
        <p:spPr>
          <a:xfrm>
            <a:off x="6479294" y="3215642"/>
            <a:ext cx="1938433" cy="685800"/>
          </a:xfrm>
          <a:prstGeom prst="rect">
            <a:avLst/>
          </a:prstGeom>
          <a:noFill/>
          <a:ln/>
        </p:spPr>
        <p:txBody>
          <a:bodyPr wrap="square" lIns="0" tIns="0" rIns="0" bIns="0" rtlCol="0" anchor="t">
            <a:normAutofit/>
          </a:bodyPr>
          <a:lstStyle/>
          <a:p>
            <a:pPr algn="ctr" indent="0" marL="0">
              <a:lnSpc>
                <a:spcPts val="5200"/>
              </a:lnSpc>
              <a:buNone/>
            </a:pPr>
            <a:r>
              <a:rPr lang="en-US" sz="5200" b="1" spc="-200" kern="0" dirty="0">
                <a:solidFill>
                  <a:srgbClr val="F5F5F7"/>
                </a:solidFill>
                <a:latin typeface="Inter" pitchFamily="34" charset="0"/>
                <a:ea typeface="Inter" pitchFamily="34" charset="-122"/>
                <a:cs typeface="Inter" pitchFamily="34" charset="-120"/>
              </a:rPr>
              <a:t>Write</a:t>
            </a:r>
            <a:endParaRPr lang="en-US" sz="5200" dirty="0"/>
          </a:p>
        </p:txBody>
      </p:sp>
      <p:sp>
        <p:nvSpPr>
          <p:cNvPr id="8" name="Text 6"/>
          <p:cNvSpPr/>
          <p:nvPr/>
        </p:nvSpPr>
        <p:spPr>
          <a:xfrm>
            <a:off x="6336665" y="4028442"/>
            <a:ext cx="2223770" cy="5537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A1A1A6"/>
                </a:solidFill>
                <a:latin typeface="Inter" pitchFamily="34" charset="0"/>
                <a:ea typeface="Inter" pitchFamily="34" charset="-122"/>
                <a:cs typeface="Inter" pitchFamily="34" charset="-120"/>
              </a:rPr>
              <a:t>Scripted from the sources alone.</a:t>
            </a:r>
            <a:endParaRPr lang="en-US" sz="1600" dirty="0"/>
          </a:p>
        </p:txBody>
      </p:sp>
      <p:sp>
        <p:nvSpPr>
          <p:cNvPr id="9" name="Text 7"/>
          <p:cNvSpPr/>
          <p:nvPr/>
        </p:nvSpPr>
        <p:spPr>
          <a:xfrm>
            <a:off x="9020755" y="3215642"/>
            <a:ext cx="2265712" cy="685800"/>
          </a:xfrm>
          <a:prstGeom prst="rect">
            <a:avLst/>
          </a:prstGeom>
          <a:noFill/>
          <a:ln/>
        </p:spPr>
        <p:txBody>
          <a:bodyPr wrap="square" lIns="0" tIns="0" rIns="0" bIns="0" rtlCol="0" anchor="t">
            <a:normAutofit/>
          </a:bodyPr>
          <a:lstStyle/>
          <a:p>
            <a:pPr algn="ctr" indent="0" marL="0">
              <a:lnSpc>
                <a:spcPts val="5200"/>
              </a:lnSpc>
              <a:buNone/>
            </a:pPr>
            <a:r>
              <a:rPr lang="en-US" sz="5200" b="1" spc="-200" kern="0" dirty="0">
                <a:solidFill>
                  <a:srgbClr val="FF2B33"/>
                </a:solidFill>
                <a:latin typeface="Inter" pitchFamily="34" charset="0"/>
                <a:ea typeface="Inter" pitchFamily="34" charset="-122"/>
                <a:cs typeface="Inter" pitchFamily="34" charset="-120"/>
              </a:rPr>
              <a:t>Speak</a:t>
            </a:r>
            <a:endParaRPr lang="en-US" sz="5200" dirty="0"/>
          </a:p>
        </p:txBody>
      </p:sp>
      <p:sp>
        <p:nvSpPr>
          <p:cNvPr id="10" name="Text 8"/>
          <p:cNvSpPr/>
          <p:nvPr/>
        </p:nvSpPr>
        <p:spPr>
          <a:xfrm>
            <a:off x="9041765" y="4028442"/>
            <a:ext cx="2223770" cy="5537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A1A1A6"/>
                </a:solidFill>
                <a:latin typeface="Inter" pitchFamily="34" charset="0"/>
                <a:ea typeface="Inter" pitchFamily="34" charset="-122"/>
                <a:cs typeface="Inter" pitchFamily="34" charset="-120"/>
              </a:rPr>
              <a:t>Voiced and ready to play.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1051941" y="2283464"/>
            <a:ext cx="2772918" cy="1930400"/>
          </a:xfrm>
          <a:prstGeom prst="rect">
            <a:avLst/>
          </a:prstGeom>
          <a:noFill/>
          <a:ln/>
        </p:spPr>
        <p:txBody>
          <a:bodyPr wrap="square" lIns="0" tIns="0" rIns="0" bIns="0" rtlCol="0" anchor="t">
            <a:normAutofit/>
          </a:bodyPr>
          <a:lstStyle/>
          <a:p>
            <a:pPr algn="ctr" indent="0" marL="0">
              <a:lnSpc>
                <a:spcPts val="15000"/>
              </a:lnSpc>
              <a:buNone/>
            </a:pPr>
            <a:r>
              <a:rPr lang="en-US" sz="15000" b="1" spc="-600" kern="0" dirty="0">
                <a:solidFill>
                  <a:srgbClr val="F5F5F7"/>
                </a:solidFill>
                <a:latin typeface="Inter" pitchFamily="34" charset="0"/>
                <a:ea typeface="Inter" pitchFamily="34" charset="-122"/>
                <a:cs typeface="Inter" pitchFamily="34" charset="-120"/>
              </a:rPr>
              <a:t>41</a:t>
            </a:r>
            <a:endParaRPr lang="en-US" sz="15000" dirty="0"/>
          </a:p>
        </p:txBody>
      </p:sp>
      <p:sp>
        <p:nvSpPr>
          <p:cNvPr id="3" name="Text 1"/>
          <p:cNvSpPr/>
          <p:nvPr/>
        </p:nvSpPr>
        <p:spPr>
          <a:xfrm>
            <a:off x="1798892" y="4239264"/>
            <a:ext cx="1279017" cy="360680"/>
          </a:xfrm>
          <a:prstGeom prst="rect">
            <a:avLst/>
          </a:prstGeom>
          <a:noFill/>
          <a:ln/>
        </p:spPr>
        <p:txBody>
          <a:bodyPr wrap="square" lIns="0" tIns="0" rIns="0" bIns="0" rtlCol="0" anchor="t">
            <a:normAutofit/>
          </a:bodyPr>
          <a:lstStyle/>
          <a:p>
            <a:pPr algn="ctr" indent="0" marL="0">
              <a:lnSpc>
                <a:spcPts val="2640"/>
              </a:lnSpc>
              <a:buNone/>
            </a:pPr>
            <a:r>
              <a:rPr lang="en-US" sz="2200" dirty="0">
                <a:solidFill>
                  <a:srgbClr val="A1A1A6"/>
                </a:solidFill>
                <a:latin typeface="Inter" pitchFamily="34" charset="0"/>
                <a:ea typeface="Inter" pitchFamily="34" charset="-122"/>
                <a:cs typeface="Inter" pitchFamily="34" charset="-120"/>
              </a:rPr>
              <a:t>sources</a:t>
            </a:r>
            <a:endParaRPr lang="en-US" sz="2200" dirty="0"/>
          </a:p>
        </p:txBody>
      </p:sp>
      <p:sp>
        <p:nvSpPr>
          <p:cNvPr id="4" name="Text 2"/>
          <p:cNvSpPr/>
          <p:nvPr/>
        </p:nvSpPr>
        <p:spPr>
          <a:xfrm>
            <a:off x="4709541" y="2283464"/>
            <a:ext cx="2772918" cy="1930400"/>
          </a:xfrm>
          <a:prstGeom prst="rect">
            <a:avLst/>
          </a:prstGeom>
          <a:noFill/>
          <a:ln/>
        </p:spPr>
        <p:txBody>
          <a:bodyPr wrap="square" lIns="0" tIns="0" rIns="0" bIns="0" rtlCol="0" anchor="t">
            <a:normAutofit/>
          </a:bodyPr>
          <a:lstStyle/>
          <a:p>
            <a:pPr algn="ctr" indent="0" marL="0">
              <a:lnSpc>
                <a:spcPts val="15000"/>
              </a:lnSpc>
              <a:buNone/>
            </a:pPr>
            <a:r>
              <a:rPr lang="en-US" sz="15000" b="1" spc="-600" kern="0" dirty="0">
                <a:solidFill>
                  <a:srgbClr val="F5F5F7"/>
                </a:solidFill>
                <a:latin typeface="Inter" pitchFamily="34" charset="0"/>
                <a:ea typeface="Inter" pitchFamily="34" charset="-122"/>
                <a:cs typeface="Inter" pitchFamily="34" charset="-120"/>
              </a:rPr>
              <a:t>12</a:t>
            </a:r>
            <a:endParaRPr lang="en-US" sz="15000" dirty="0"/>
          </a:p>
        </p:txBody>
      </p:sp>
      <p:sp>
        <p:nvSpPr>
          <p:cNvPr id="5" name="Text 3"/>
          <p:cNvSpPr/>
          <p:nvPr/>
        </p:nvSpPr>
        <p:spPr>
          <a:xfrm>
            <a:off x="5657858" y="4239264"/>
            <a:ext cx="876205" cy="360680"/>
          </a:xfrm>
          <a:prstGeom prst="rect">
            <a:avLst/>
          </a:prstGeom>
          <a:noFill/>
          <a:ln/>
        </p:spPr>
        <p:txBody>
          <a:bodyPr wrap="square" lIns="0" tIns="0" rIns="0" bIns="0" rtlCol="0" anchor="t">
            <a:normAutofit/>
          </a:bodyPr>
          <a:lstStyle/>
          <a:p>
            <a:pPr algn="ctr" indent="0" marL="0">
              <a:lnSpc>
                <a:spcPts val="2640"/>
              </a:lnSpc>
              <a:buNone/>
            </a:pPr>
            <a:r>
              <a:rPr lang="en-US" sz="2200" dirty="0">
                <a:solidFill>
                  <a:srgbClr val="A1A1A6"/>
                </a:solidFill>
                <a:latin typeface="Inter" pitchFamily="34" charset="0"/>
                <a:ea typeface="Inter" pitchFamily="34" charset="-122"/>
                <a:cs typeface="Inter" pitchFamily="34" charset="-120"/>
              </a:rPr>
              <a:t>steps</a:t>
            </a:r>
            <a:endParaRPr lang="en-US" sz="2200" dirty="0"/>
          </a:p>
        </p:txBody>
      </p:sp>
      <p:sp>
        <p:nvSpPr>
          <p:cNvPr id="6" name="Text 4"/>
          <p:cNvSpPr/>
          <p:nvPr/>
        </p:nvSpPr>
        <p:spPr>
          <a:xfrm>
            <a:off x="9355614" y="2283464"/>
            <a:ext cx="795972" cy="1930400"/>
          </a:xfrm>
          <a:prstGeom prst="rect">
            <a:avLst/>
          </a:prstGeom>
          <a:noFill/>
          <a:ln/>
        </p:spPr>
        <p:txBody>
          <a:bodyPr wrap="square" lIns="0" tIns="0" rIns="0" bIns="0" rtlCol="0" anchor="t">
            <a:normAutofit/>
          </a:bodyPr>
          <a:lstStyle/>
          <a:p>
            <a:pPr algn="ctr" indent="0" marL="0">
              <a:lnSpc>
                <a:spcPts val="15000"/>
              </a:lnSpc>
              <a:buNone/>
            </a:pPr>
            <a:r>
              <a:rPr lang="en-US" sz="15000" b="1" spc="-600" kern="0" dirty="0">
                <a:gradFill rotWithShape="1">
                  <a:gsLst>
                    <a:gs pos="0">
                      <a:srgbClr val="FF2B33"/>
                    </a:gs>
                    <a:gs pos="100000">
                      <a:srgbClr val="FF8A5C"/>
                    </a:gs>
                  </a:gsLst>
                  <a:lin ang="0" scaled="0"/>
                </a:gradFill>
                <a:latin typeface="Inter" pitchFamily="34" charset="0"/>
                <a:ea typeface="Inter" pitchFamily="34" charset="-122"/>
                <a:cs typeface="Inter" pitchFamily="34" charset="-120"/>
              </a:rPr>
              <a:t>1</a:t>
            </a:r>
            <a:endParaRPr lang="en-US" sz="15000" dirty="0"/>
          </a:p>
        </p:txBody>
      </p:sp>
      <p:sp>
        <p:nvSpPr>
          <p:cNvPr id="7" name="Text 5"/>
          <p:cNvSpPr/>
          <p:nvPr/>
        </p:nvSpPr>
        <p:spPr>
          <a:xfrm>
            <a:off x="8958080" y="4239264"/>
            <a:ext cx="1590961" cy="360680"/>
          </a:xfrm>
          <a:prstGeom prst="rect">
            <a:avLst/>
          </a:prstGeom>
          <a:noFill/>
          <a:ln/>
        </p:spPr>
        <p:txBody>
          <a:bodyPr wrap="square" lIns="0" tIns="0" rIns="0" bIns="0" rtlCol="0" anchor="t">
            <a:normAutofit/>
          </a:bodyPr>
          <a:lstStyle/>
          <a:p>
            <a:pPr algn="ctr" indent="0" marL="0">
              <a:lnSpc>
                <a:spcPts val="2640"/>
              </a:lnSpc>
              <a:buNone/>
            </a:pPr>
            <a:r>
              <a:rPr lang="en-US" sz="2200" dirty="0">
                <a:solidFill>
                  <a:srgbClr val="F5F5F7"/>
                </a:solidFill>
                <a:latin typeface="Inter" pitchFamily="34" charset="0"/>
                <a:ea typeface="Inter" pitchFamily="34" charset="-122"/>
                <a:cs typeface="Inter" pitchFamily="34" charset="-120"/>
              </a:rPr>
              <a:t>command</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5378014" y="2047242"/>
            <a:ext cx="1435894"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86868B"/>
                </a:solidFill>
                <a:latin typeface="Inter" pitchFamily="34" charset="0"/>
                <a:ea typeface="Inter" pitchFamily="34" charset="-122"/>
                <a:cs typeface="Inter" pitchFamily="34" charset="-120"/>
              </a:rPr>
              <a:t>Built with.</a:t>
            </a:r>
            <a:endParaRPr lang="en-US" sz="2000" dirty="0"/>
          </a:p>
        </p:txBody>
      </p:sp>
      <p:sp>
        <p:nvSpPr>
          <p:cNvPr id="3" name="Text 1"/>
          <p:cNvSpPr/>
          <p:nvPr/>
        </p:nvSpPr>
        <p:spPr>
          <a:xfrm>
            <a:off x="2298065" y="2910842"/>
            <a:ext cx="2312670" cy="609600"/>
          </a:xfrm>
          <a:prstGeom prst="rect">
            <a:avLst/>
          </a:prstGeom>
          <a:noFill/>
          <a:ln/>
        </p:spPr>
        <p:txBody>
          <a:bodyPr wrap="square" lIns="0" tIns="0" rIns="0" bIns="0" rtlCol="0" anchor="t">
            <a:normAutofit/>
          </a:bodyPr>
          <a:lstStyle/>
          <a:p>
            <a:pPr algn="ctr" indent="0" marL="0">
              <a:lnSpc>
                <a:spcPts val="4600"/>
              </a:lnSpc>
              <a:buNone/>
            </a:pPr>
            <a:r>
              <a:rPr lang="en-US" sz="4600" b="1" spc="-150" kern="0" dirty="0">
                <a:solidFill>
                  <a:srgbClr val="F5F5F7"/>
                </a:solidFill>
                <a:latin typeface="Inter" pitchFamily="34" charset="0"/>
                <a:ea typeface="Inter" pitchFamily="34" charset="-122"/>
                <a:cs typeface="Inter" pitchFamily="34" charset="-120"/>
              </a:rPr>
              <a:t>Python</a:t>
            </a:r>
            <a:endParaRPr lang="en-US" sz="4600" dirty="0"/>
          </a:p>
        </p:txBody>
      </p:sp>
      <p:sp>
        <p:nvSpPr>
          <p:cNvPr id="4" name="Text 2"/>
          <p:cNvSpPr/>
          <p:nvPr/>
        </p:nvSpPr>
        <p:spPr>
          <a:xfrm>
            <a:off x="2483810" y="3596642"/>
            <a:ext cx="1941100" cy="28956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A1A1A6"/>
                </a:solidFill>
                <a:latin typeface="Inter" pitchFamily="34" charset="0"/>
                <a:ea typeface="Inter" pitchFamily="34" charset="-122"/>
                <a:cs typeface="Inter" pitchFamily="34" charset="-120"/>
              </a:rPr>
              <a:t>runs the pipeline</a:t>
            </a:r>
            <a:endParaRPr lang="en-US" sz="1600" dirty="0"/>
          </a:p>
        </p:txBody>
      </p:sp>
      <p:sp>
        <p:nvSpPr>
          <p:cNvPr id="5" name="Text 3"/>
          <p:cNvSpPr/>
          <p:nvPr/>
        </p:nvSpPr>
        <p:spPr>
          <a:xfrm>
            <a:off x="7677380" y="2910842"/>
            <a:ext cx="2120360" cy="609600"/>
          </a:xfrm>
          <a:prstGeom prst="rect">
            <a:avLst/>
          </a:prstGeom>
          <a:noFill/>
          <a:ln/>
        </p:spPr>
        <p:txBody>
          <a:bodyPr wrap="square" lIns="0" tIns="0" rIns="0" bIns="0" rtlCol="0" anchor="t">
            <a:normAutofit/>
          </a:bodyPr>
          <a:lstStyle/>
          <a:p>
            <a:pPr algn="ctr" indent="0" marL="0">
              <a:lnSpc>
                <a:spcPts val="4600"/>
              </a:lnSpc>
              <a:buNone/>
            </a:pPr>
            <a:r>
              <a:rPr lang="en-US" sz="4600" b="1" spc="-150" kern="0" dirty="0">
                <a:solidFill>
                  <a:srgbClr val="F5F5F7"/>
                </a:solidFill>
                <a:latin typeface="Inter" pitchFamily="34" charset="0"/>
                <a:ea typeface="Inter" pitchFamily="34" charset="-122"/>
                <a:cs typeface="Inter" pitchFamily="34" charset="-120"/>
              </a:rPr>
              <a:t>SQLite</a:t>
            </a:r>
            <a:endParaRPr lang="en-US" sz="4600" dirty="0"/>
          </a:p>
        </p:txBody>
      </p:sp>
      <p:sp>
        <p:nvSpPr>
          <p:cNvPr id="6" name="Text 4"/>
          <p:cNvSpPr/>
          <p:nvPr/>
        </p:nvSpPr>
        <p:spPr>
          <a:xfrm>
            <a:off x="7188843" y="3596642"/>
            <a:ext cx="3097435" cy="28956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A1A1A6"/>
                </a:solidFill>
                <a:latin typeface="Inter" pitchFamily="34" charset="0"/>
                <a:ea typeface="Inter" pitchFamily="34" charset="-122"/>
                <a:cs typeface="Inter" pitchFamily="34" charset="-120"/>
              </a:rPr>
              <a:t>remembers every decision</a:t>
            </a:r>
            <a:endParaRPr lang="en-US" sz="1600" dirty="0"/>
          </a:p>
        </p:txBody>
      </p:sp>
      <p:sp>
        <p:nvSpPr>
          <p:cNvPr id="7" name="Text 5"/>
          <p:cNvSpPr/>
          <p:nvPr/>
        </p:nvSpPr>
        <p:spPr>
          <a:xfrm>
            <a:off x="767834" y="3860800"/>
            <a:ext cx="5373132" cy="609600"/>
          </a:xfrm>
          <a:prstGeom prst="rect">
            <a:avLst/>
          </a:prstGeom>
          <a:noFill/>
          <a:ln/>
        </p:spPr>
        <p:txBody>
          <a:bodyPr wrap="square" lIns="0" tIns="0" rIns="0" bIns="0" rtlCol="0" anchor="t">
            <a:normAutofit/>
          </a:bodyPr>
          <a:lstStyle/>
          <a:p>
            <a:pPr algn="ctr" indent="0" marL="0">
              <a:lnSpc>
                <a:spcPts val="4600"/>
              </a:lnSpc>
              <a:buNone/>
            </a:pPr>
            <a:r>
              <a:rPr lang="en-US" sz="4600" b="1" spc="-150" kern="0" dirty="0">
                <a:solidFill>
                  <a:srgbClr val="F5F5F7"/>
                </a:solidFill>
                <a:latin typeface="Inter" pitchFamily="34" charset="0"/>
                <a:ea typeface="Inter" pitchFamily="34" charset="-122"/>
                <a:cs typeface="Inter" pitchFamily="34" charset="-120"/>
              </a:rPr>
              <a:t>Claude Sonnet 5.5</a:t>
            </a:r>
            <a:endParaRPr lang="en-US" sz="4600" dirty="0"/>
          </a:p>
        </p:txBody>
      </p:sp>
      <p:sp>
        <p:nvSpPr>
          <p:cNvPr id="8" name="Text 6"/>
          <p:cNvSpPr/>
          <p:nvPr/>
        </p:nvSpPr>
        <p:spPr>
          <a:xfrm>
            <a:off x="2530102" y="4546600"/>
            <a:ext cx="1848517" cy="28956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A1A1A6"/>
                </a:solidFill>
                <a:latin typeface="Inter" pitchFamily="34" charset="0"/>
                <a:ea typeface="Inter" pitchFamily="34" charset="-122"/>
                <a:cs typeface="Inter" pitchFamily="34" charset="-120"/>
              </a:rPr>
              <a:t>edits and writes</a:t>
            </a:r>
            <a:endParaRPr lang="en-US" sz="1600" dirty="0"/>
          </a:p>
        </p:txBody>
      </p:sp>
      <p:sp>
        <p:nvSpPr>
          <p:cNvPr id="9" name="Text 7"/>
          <p:cNvSpPr/>
          <p:nvPr/>
        </p:nvSpPr>
        <p:spPr>
          <a:xfrm>
            <a:off x="6140966" y="3860800"/>
            <a:ext cx="5193189" cy="609600"/>
          </a:xfrm>
          <a:prstGeom prst="rect">
            <a:avLst/>
          </a:prstGeom>
          <a:noFill/>
          <a:ln/>
        </p:spPr>
        <p:txBody>
          <a:bodyPr wrap="square" lIns="0" tIns="0" rIns="0" bIns="0" rtlCol="0" anchor="t">
            <a:normAutofit/>
          </a:bodyPr>
          <a:lstStyle/>
          <a:p>
            <a:pPr algn="ctr" indent="0" marL="0">
              <a:lnSpc>
                <a:spcPts val="4600"/>
              </a:lnSpc>
              <a:buNone/>
            </a:pPr>
            <a:r>
              <a:rPr lang="en-US" sz="4600" b="1" spc="-150" kern="0" dirty="0">
                <a:solidFill>
                  <a:srgbClr val="F5F5F7"/>
                </a:solidFill>
                <a:latin typeface="Inter" pitchFamily="34" charset="0"/>
                <a:ea typeface="Inter" pitchFamily="34" charset="-122"/>
                <a:cs typeface="Inter" pitchFamily="34" charset="-120"/>
              </a:rPr>
              <a:t>Chatterbox Turbo</a:t>
            </a:r>
            <a:endParaRPr lang="en-US" sz="4600" dirty="0"/>
          </a:p>
        </p:txBody>
      </p:sp>
      <p:sp>
        <p:nvSpPr>
          <p:cNvPr id="10" name="Text 8"/>
          <p:cNvSpPr/>
          <p:nvPr/>
        </p:nvSpPr>
        <p:spPr>
          <a:xfrm>
            <a:off x="7873214" y="4546600"/>
            <a:ext cx="1728692" cy="28956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A1A1A6"/>
                </a:solidFill>
                <a:latin typeface="Inter" pitchFamily="34" charset="0"/>
                <a:ea typeface="Inter" pitchFamily="34" charset="-122"/>
                <a:cs typeface="Inter" pitchFamily="34" charset="-120"/>
              </a:rPr>
              <a:t>gives it a voice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4973383" y="2222500"/>
            <a:ext cx="2245233"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86868B"/>
                </a:solidFill>
                <a:latin typeface="Inter" pitchFamily="34" charset="0"/>
                <a:ea typeface="Inter" pitchFamily="34" charset="-122"/>
                <a:cs typeface="Inter" pitchFamily="34" charset="-120"/>
              </a:rPr>
              <a:t>Not a mock-up.</a:t>
            </a:r>
            <a:endParaRPr lang="en-US" sz="2000" dirty="0"/>
          </a:p>
        </p:txBody>
      </p:sp>
      <p:sp>
        <p:nvSpPr>
          <p:cNvPr id="3" name="Text 1"/>
          <p:cNvSpPr/>
          <p:nvPr>
            <p:ph type="title"/>
          </p:nvPr>
        </p:nvSpPr>
        <p:spPr>
          <a:xfrm>
            <a:off x="0" y="2755900"/>
            <a:ext cx="12192000" cy="1295400"/>
          </a:xfrm>
          <a:prstGeom prst="rect">
            <a:avLst/>
          </a:prstGeom>
          <a:noFill/>
          <a:ln/>
        </p:spPr>
        <p:txBody>
          <a:bodyPr wrap="square" lIns="0" tIns="0" rIns="0" bIns="0" rtlCol="0" anchor="t">
            <a:normAutofit/>
          </a:bodyPr>
          <a:lstStyle/>
          <a:p>
            <a:pPr algn="ctr" indent="0" marL="0">
              <a:lnSpc>
                <a:spcPts val="10000"/>
              </a:lnSpc>
              <a:buNone/>
            </a:pPr>
            <a:r>
              <a:rPr lang="en-US" sz="10000" b="1" i="0" spc="-400" kern="0" dirty="0">
                <a:solidFill>
                  <a:srgbClr val="F5F5F7"/>
                </a:solidFill>
                <a:latin typeface="Inter" pitchFamily="34" charset="0"/>
                <a:ea typeface="Inter" pitchFamily="34" charset="-122"/>
                <a:cs typeface="Inter" pitchFamily="34" charset="-120"/>
              </a:rPr>
              <a:t>It runs. Every day.</a:t>
            </a:r>
            <a:endParaRPr lang="en-US" sz="10000" dirty="0"/>
          </a:p>
        </p:txBody>
      </p:sp>
      <p:sp>
        <p:nvSpPr>
          <p:cNvPr id="4" name="Text 2"/>
          <p:cNvSpPr/>
          <p:nvPr/>
        </p:nvSpPr>
        <p:spPr>
          <a:xfrm>
            <a:off x="2412206" y="4254500"/>
            <a:ext cx="7367587" cy="406400"/>
          </a:xfrm>
          <a:prstGeom prst="rect">
            <a:avLst/>
          </a:prstGeom>
          <a:noFill/>
          <a:ln/>
        </p:spPr>
        <p:txBody>
          <a:bodyPr wrap="square" lIns="0" tIns="0" rIns="0" bIns="0" rtlCol="0" anchor="t">
            <a:normAutofit/>
          </a:bodyPr>
          <a:lstStyle/>
          <a:p>
            <a:pPr algn="ctr" indent="0" marL="0">
              <a:lnSpc>
                <a:spcPts val="3000"/>
              </a:lnSpc>
              <a:buNone/>
            </a:pPr>
            <a:r>
              <a:rPr lang="en-US" sz="2400" spc="-50" kern="0" dirty="0">
                <a:solidFill>
                  <a:srgbClr val="A1A1A6"/>
                </a:solidFill>
                <a:latin typeface="Inter" pitchFamily="34" charset="0"/>
                <a:ea typeface="Inter" pitchFamily="34" charset="-122"/>
                <a:cs typeface="Inter" pitchFamily="34" charset="-120"/>
              </a:rPr>
              <a:t>Making real episodes since 7 October 2026.</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5128070" y="1538288"/>
            <a:ext cx="1935861"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86868B"/>
                </a:solidFill>
                <a:latin typeface="Inter" pitchFamily="34" charset="0"/>
                <a:ea typeface="Inter" pitchFamily="34" charset="-122"/>
                <a:cs typeface="Inter" pitchFamily="34" charset="-120"/>
              </a:rPr>
              <a:t>Coming next.</a:t>
            </a:r>
            <a:endParaRPr lang="en-US" sz="2000" dirty="0"/>
          </a:p>
        </p:txBody>
      </p:sp>
      <p:sp>
        <p:nvSpPr>
          <p:cNvPr id="3" name="Text 1"/>
          <p:cNvSpPr/>
          <p:nvPr/>
        </p:nvSpPr>
        <p:spPr>
          <a:xfrm>
            <a:off x="4089463" y="1970088"/>
            <a:ext cx="4013073" cy="1025525"/>
          </a:xfrm>
          <a:prstGeom prst="rect">
            <a:avLst/>
          </a:prstGeom>
          <a:noFill/>
          <a:ln/>
        </p:spPr>
        <p:txBody>
          <a:bodyPr wrap="square" lIns="0" tIns="0" rIns="0" bIns="0" rtlCol="0" anchor="t">
            <a:normAutofit/>
          </a:bodyPr>
          <a:lstStyle/>
          <a:p>
            <a:pPr algn="ctr" indent="0" marL="0">
              <a:lnSpc>
                <a:spcPts val="7875"/>
              </a:lnSpc>
              <a:buNone/>
            </a:pPr>
            <a:r>
              <a:rPr lang="en-US" sz="7500" b="1" spc="-300" kern="0" dirty="0">
                <a:solidFill>
                  <a:srgbClr val="F5F5F7"/>
                </a:solidFill>
                <a:latin typeface="Inter" pitchFamily="34" charset="0"/>
                <a:ea typeface="Inter" pitchFamily="34" charset="-122"/>
                <a:cs typeface="Inter" pitchFamily="34" charset="-120"/>
              </a:rPr>
              <a:t>Spotify.</a:t>
            </a:r>
            <a:endParaRPr lang="en-US" sz="7500" dirty="0"/>
          </a:p>
        </p:txBody>
      </p:sp>
      <p:sp>
        <p:nvSpPr>
          <p:cNvPr id="4" name="Text 2"/>
          <p:cNvSpPr/>
          <p:nvPr/>
        </p:nvSpPr>
        <p:spPr>
          <a:xfrm>
            <a:off x="2065218" y="3097213"/>
            <a:ext cx="8061484" cy="1025525"/>
          </a:xfrm>
          <a:prstGeom prst="rect">
            <a:avLst/>
          </a:prstGeom>
          <a:noFill/>
          <a:ln/>
        </p:spPr>
        <p:txBody>
          <a:bodyPr wrap="square" lIns="0" tIns="0" rIns="0" bIns="0" rtlCol="0" anchor="t">
            <a:normAutofit/>
          </a:bodyPr>
          <a:lstStyle/>
          <a:p>
            <a:pPr algn="ctr" indent="0" marL="0">
              <a:lnSpc>
                <a:spcPts val="7875"/>
              </a:lnSpc>
              <a:buNone/>
            </a:pPr>
            <a:r>
              <a:rPr lang="en-US" sz="7500" b="1" spc="-300" kern="0" dirty="0">
                <a:solidFill>
                  <a:srgbClr val="F5F5F7"/>
                </a:solidFill>
                <a:latin typeface="Inter" pitchFamily="34" charset="0"/>
                <a:ea typeface="Inter" pitchFamily="34" charset="-122"/>
                <a:cs typeface="Inter" pitchFamily="34" charset="-120"/>
              </a:rPr>
              <a:t>Amazon Music.</a:t>
            </a:r>
            <a:endParaRPr lang="en-US" sz="7500" dirty="0"/>
          </a:p>
        </p:txBody>
      </p:sp>
      <p:sp>
        <p:nvSpPr>
          <p:cNvPr id="5" name="Text 3"/>
          <p:cNvSpPr/>
          <p:nvPr/>
        </p:nvSpPr>
        <p:spPr>
          <a:xfrm>
            <a:off x="1867323" y="4224338"/>
            <a:ext cx="8457275" cy="1120775"/>
          </a:xfrm>
          <a:prstGeom prst="rect">
            <a:avLst/>
          </a:prstGeom>
          <a:noFill/>
          <a:ln/>
        </p:spPr>
        <p:txBody>
          <a:bodyPr wrap="square" lIns="0" tIns="0" rIns="0" bIns="0" rtlCol="0" anchor="t">
            <a:normAutofit/>
          </a:bodyPr>
          <a:lstStyle/>
          <a:p>
            <a:pPr algn="ctr" indent="0" marL="0">
              <a:lnSpc>
                <a:spcPts val="8625"/>
              </a:lnSpc>
              <a:buNone/>
            </a:pPr>
            <a:r>
              <a:rPr lang="en-US" sz="7500" b="1" spc="-300" kern="0" dirty="0">
                <a:gradFill rotWithShape="1">
                  <a:gsLst>
                    <a:gs pos="0">
                      <a:srgbClr val="FF2B33"/>
                    </a:gs>
                    <a:gs pos="100000">
                      <a:srgbClr val="FF8A5C"/>
                    </a:gs>
                  </a:gsLst>
                  <a:lin ang="0" scaled="0"/>
                </a:gradFill>
                <a:latin typeface="Inter" pitchFamily="34" charset="0"/>
                <a:ea typeface="Inter" pitchFamily="34" charset="-122"/>
                <a:cs typeface="Inter" pitchFamily="34" charset="-120"/>
              </a:rPr>
              <a:t>A host and a guest.</a:t>
            </a:r>
            <a:endParaRPr lang="en-US" sz="7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0B0B"/>
        </a:solidFill>
      </p:bgPr>
    </p:bg>
    <p:spTree>
      <p:nvGrpSpPr>
        <p:cNvPr id="1" name=""/>
        <p:cNvGrpSpPr/>
        <p:nvPr/>
      </p:nvGrpSpPr>
      <p:grpSpPr>
        <a:xfrm>
          <a:off x="0" y="0"/>
          <a:ext cx="0" cy="0"/>
          <a:chOff x="0" y="0"/>
          <a:chExt cx="0" cy="0"/>
        </a:xfrm>
      </p:grpSpPr>
      <p:pic>
        <p:nvPicPr>
          <p:cNvPr id="2" name="Image 0" descr="AIdea logo: a red heartbeat line that spells A and I, followed by the letters d, e, a in white">    </p:cNvPr>
          <p:cNvPicPr>
            <a:picLocks noChangeAspect="1"/>
          </p:cNvPicPr>
          <p:nvPr/>
        </p:nvPicPr>
        <p:blipFill>
          <a:blip r:embed="rId1"/>
          <a:srcRect l="0" r="0" t="0" b="0"/>
          <a:stretch/>
        </p:blipFill>
        <p:spPr>
          <a:xfrm>
            <a:off x="4762500" y="1040767"/>
            <a:ext cx="2667000" cy="2667000"/>
          </a:xfrm>
          <a:prstGeom prst="rect">
            <a:avLst/>
          </a:prstGeom>
        </p:spPr>
      </p:pic>
      <p:sp>
        <p:nvSpPr>
          <p:cNvPr id="3" name="Text 0"/>
          <p:cNvSpPr/>
          <p:nvPr>
            <p:ph type="title"/>
          </p:nvPr>
        </p:nvSpPr>
        <p:spPr>
          <a:xfrm>
            <a:off x="654304" y="3707767"/>
            <a:ext cx="10883392" cy="1785620"/>
          </a:xfrm>
          <a:prstGeom prst="rect">
            <a:avLst/>
          </a:prstGeom>
          <a:noFill/>
          <a:ln/>
        </p:spPr>
        <p:txBody>
          <a:bodyPr wrap="square" lIns="0" tIns="0" rIns="0" bIns="0" rtlCol="0" anchor="t">
            <a:normAutofit/>
          </a:bodyPr>
          <a:lstStyle/>
          <a:p>
            <a:pPr algn="ctr" indent="0" marL="0">
              <a:lnSpc>
                <a:spcPts val="6930"/>
              </a:lnSpc>
              <a:buNone/>
            </a:pPr>
            <a:r>
              <a:rPr lang="en-US" sz="6600" b="1" i="0" spc="-250" kern="0" dirty="0">
                <a:solidFill>
                  <a:srgbClr val="F5F5F7"/>
                </a:solidFill>
                <a:latin typeface="Inter" pitchFamily="34" charset="0"/>
                <a:ea typeface="Inter" pitchFamily="34" charset="-122"/>
                <a:cs typeface="Inter" pitchFamily="34" charset="-120"/>
              </a:rPr>
              <a:t>Fourteen minutes. Caught up.</a:t>
            </a:r>
            <a:endParaRPr lang="en-US" sz="6600" dirty="0"/>
          </a:p>
        </p:txBody>
      </p:sp>
      <p:sp>
        <p:nvSpPr>
          <p:cNvPr id="4" name="Text 1"/>
          <p:cNvSpPr/>
          <p:nvPr/>
        </p:nvSpPr>
        <p:spPr>
          <a:xfrm>
            <a:off x="5205032" y="5467989"/>
            <a:ext cx="1781937" cy="374650"/>
          </a:xfrm>
          <a:prstGeom prst="rect">
            <a:avLst/>
          </a:prstGeom>
          <a:noFill/>
          <a:ln/>
        </p:spPr>
        <p:txBody>
          <a:bodyPr wrap="square" lIns="0" tIns="0" rIns="0" bIns="0" rtlCol="0" anchor="t">
            <a:normAutofit/>
          </a:bodyPr>
          <a:lstStyle/>
          <a:p>
            <a:pPr algn="ctr" indent="0" marL="0">
              <a:lnSpc>
                <a:spcPts val="2750"/>
              </a:lnSpc>
              <a:buNone/>
            </a:pPr>
            <a:r>
              <a:rPr lang="en-US" sz="2200" dirty="0">
                <a:solidFill>
                  <a:srgbClr val="A1A1A6"/>
                </a:solidFill>
                <a:latin typeface="Inter" pitchFamily="34" charset="0"/>
                <a:ea typeface="Inter" pitchFamily="34" charset="-122"/>
                <a:cs typeface="Inter" pitchFamily="34" charset="-120"/>
              </a:rPr>
              <a:t>Thank you.</a:t>
            </a:r>
            <a:endParaRPr lang="en-US" sz="2200" dirty="0"/>
          </a:p>
        </p:txBody>
      </p:sp>
      <p:sp>
        <p:nvSpPr>
          <p:cNvPr id="5" name="Text 2"/>
          <p:cNvSpPr/>
          <p:nvPr/>
        </p:nvSpPr>
        <p:spPr>
          <a:xfrm>
            <a:off x="654304" y="6169664"/>
            <a:ext cx="10883392"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86868B"/>
                </a:solidFill>
                <a:latin typeface="Inter" pitchFamily="34" charset="0"/>
                <a:ea typeface="Inter" pitchFamily="34" charset="-122"/>
                <a:cs typeface="Inter" pitchFamily="34" charset="-120"/>
              </a:rPr>
              <a:t>[Team name] · [Contact or link]</a:t>
            </a:r>
            <a:endParaRPr lang="en-US" sz="1300" dirty="0"/>
          </a:p>
        </p:txBody>
      </p:sp>
    </p:spTree>
  </p:cSld>
  <p:clrMapOvr>
    <a:masterClrMapping/>
  </p:clrMapOvr>
</p:sld>
</file>

<file path=ppt/theme/theme1.xml><?xml version="1.0" encoding="utf-8"?>
<a:theme xmlns:a="http://schemas.openxmlformats.org/drawingml/2006/main" name="AIdea Daily Hackathon Pitch">
  <a:themeElements>
    <a:clrScheme name="AIdea Daily Hackathon Pitch">
      <a:dk1>
        <a:srgbClr val="0E0B0B"/>
      </a:dk1>
      <a:lt1>
        <a:srgbClr val="F5F5F7"/>
      </a:lt1>
      <a:dk2>
        <a:srgbClr val="252223"/>
      </a:dk2>
      <a:lt2>
        <a:srgbClr val="BBBBBC"/>
      </a:lt2>
      <a:accent1>
        <a:srgbClr val="FF2B33"/>
      </a:accent1>
      <a:accent2>
        <a:srgbClr val="FF8A5C"/>
      </a:accent2>
      <a:accent3>
        <a:srgbClr val="A1A1A6"/>
      </a:accent3>
      <a:accent4>
        <a:srgbClr val="86868B"/>
      </a:accent4>
      <a:accent5>
        <a:srgbClr val="9AA0A6"/>
      </a:accent5>
      <a:accent6>
        <a:srgbClr val="999799"/>
      </a:accent6>
      <a:hlink>
        <a:srgbClr val="0563C1"/>
      </a:hlink>
      <a:folHlink>
        <a:srgbClr val="954F72"/>
      </a:folHlink>
    </a:clrScheme>
    <a:fontScheme name="AIdea Daily Hackathon Pitch">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AIdea Daily Hackathon Pitch</dc:title>
  <dc:subject/>
  <dc:creator/>
  <cp:lastModifiedBy/>
  <cp:revision>1</cp:revision>
  <dcterms:created xsi:type="dcterms:W3CDTF">2026-10-11T18:33:33Z</dcterms:created>
  <dcterms:modified xsi:type="dcterms:W3CDTF">2026-10-11T18:33:33Z</dcterms:modified>
</cp:coreProperties>
</file>